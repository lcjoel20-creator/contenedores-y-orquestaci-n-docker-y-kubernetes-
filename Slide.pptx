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8" r:id="rId4"/>
    <p:sldId id="259" r:id="rId5"/>
    <p:sldId id="282" r:id="rId6"/>
    <p:sldId id="283" r:id="rId7"/>
    <p:sldId id="269" r:id="rId8"/>
    <p:sldId id="270" r:id="rId9"/>
    <p:sldId id="271" r:id="rId10"/>
    <p:sldId id="284" r:id="rId11"/>
    <p:sldId id="273" r:id="rId12"/>
    <p:sldId id="274" r:id="rId13"/>
    <p:sldId id="277" r:id="rId14"/>
    <p:sldId id="275" r:id="rId15"/>
    <p:sldId id="262" r:id="rId16"/>
    <p:sldId id="281" r:id="rId17"/>
    <p:sldId id="285" r:id="rId18"/>
    <p:sldId id="287" r:id="rId19"/>
    <p:sldId id="286" r:id="rId20"/>
    <p:sldId id="288" r:id="rId21"/>
    <p:sldId id="289" r:id="rId22"/>
    <p:sldId id="290" r:id="rId23"/>
    <p:sldId id="291" r:id="rId24"/>
    <p:sldId id="292" r:id="rId25"/>
    <p:sldId id="293" r:id="rId26"/>
    <p:sldId id="294" r:id="rId27"/>
    <p:sldId id="276" r:id="rId28"/>
    <p:sldId id="263" r:id="rId29"/>
    <p:sldId id="279" r:id="rId30"/>
    <p:sldId id="296" r:id="rId31"/>
    <p:sldId id="295" r:id="rId32"/>
    <p:sldId id="280" r:id="rId33"/>
    <p:sldId id="297" r:id="rId34"/>
    <p:sldId id="298" r:id="rId35"/>
    <p:sldId id="299" r:id="rId36"/>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20DB"/>
    <a:srgbClr val="161AB6"/>
    <a:srgbClr val="2F4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3" d="100"/>
          <a:sy n="83" d="100"/>
        </p:scale>
        <p:origin x="1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0464E1-4B49-28E5-8475-6CABE8C4E9A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a:extLst>
              <a:ext uri="{FF2B5EF4-FFF2-40B4-BE49-F238E27FC236}">
                <a16:creationId xmlns:a16="http://schemas.microsoft.com/office/drawing/2014/main" id="{E48D7667-891A-E38A-D636-EF52BD5AF3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a:extLst>
              <a:ext uri="{FF2B5EF4-FFF2-40B4-BE49-F238E27FC236}">
                <a16:creationId xmlns:a16="http://schemas.microsoft.com/office/drawing/2014/main" id="{5C09A84E-0A35-5B04-9360-12895D764F62}"/>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5" name="Marcador de pie de página 4">
            <a:extLst>
              <a:ext uri="{FF2B5EF4-FFF2-40B4-BE49-F238E27FC236}">
                <a16:creationId xmlns:a16="http://schemas.microsoft.com/office/drawing/2014/main" id="{190D5958-2238-3C63-9739-0D45300BD91A}"/>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3853EDF2-E9AE-78F2-A9E2-8401EB11FCCE}"/>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189767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87C4A4-4FFF-4671-F209-244B803430B1}"/>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EF5ABBFF-5A1F-62E2-6F00-94DEA5F998C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9FE2BD37-C1ED-D5C6-7E46-80B4DD8B3F1E}"/>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5" name="Marcador de pie de página 4">
            <a:extLst>
              <a:ext uri="{FF2B5EF4-FFF2-40B4-BE49-F238E27FC236}">
                <a16:creationId xmlns:a16="http://schemas.microsoft.com/office/drawing/2014/main" id="{186CA4EC-2143-E511-2584-E4BFD8A27D42}"/>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B1111C52-50B7-8DA2-682B-80C2D31B3DD3}"/>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3867473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DC958A-A87E-DF9D-3144-B1C113F01A7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D16FA88A-6B0E-6958-B976-14E36328F7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93F0F89-BA46-0E53-41F8-96ED2201CDCF}"/>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5" name="Marcador de pie de página 4">
            <a:extLst>
              <a:ext uri="{FF2B5EF4-FFF2-40B4-BE49-F238E27FC236}">
                <a16:creationId xmlns:a16="http://schemas.microsoft.com/office/drawing/2014/main" id="{7AA997AB-D1CF-6125-DEA6-629E7C16BE7A}"/>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82A7C8B3-18E2-C5BA-7393-3A38A3101567}"/>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108026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46A368-A061-5093-7C69-D8C9072A2754}"/>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140CDA48-BE4D-6EBB-67E6-2689EAA89ED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a:extLst>
              <a:ext uri="{FF2B5EF4-FFF2-40B4-BE49-F238E27FC236}">
                <a16:creationId xmlns:a16="http://schemas.microsoft.com/office/drawing/2014/main" id="{3C4E4AA1-926F-583B-D759-3599136FD79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a:extLst>
              <a:ext uri="{FF2B5EF4-FFF2-40B4-BE49-F238E27FC236}">
                <a16:creationId xmlns:a16="http://schemas.microsoft.com/office/drawing/2014/main" id="{1ADE1248-F7F6-A67A-28AA-F4941F592008}"/>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6" name="Marcador de pie de página 5">
            <a:extLst>
              <a:ext uri="{FF2B5EF4-FFF2-40B4-BE49-F238E27FC236}">
                <a16:creationId xmlns:a16="http://schemas.microsoft.com/office/drawing/2014/main" id="{B4CBBF85-D387-0B1A-4852-3DE3F45926FB}"/>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E5F00C7F-5CE3-4FED-E068-47C315C9C555}"/>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3986625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26C3D4-6012-6642-663A-1EF555465A3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850BB460-8F63-1D77-C5B1-5784DE1454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CCD887C-2811-4689-C403-811A10C69DC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a:extLst>
              <a:ext uri="{FF2B5EF4-FFF2-40B4-BE49-F238E27FC236}">
                <a16:creationId xmlns:a16="http://schemas.microsoft.com/office/drawing/2014/main" id="{CAA9E9CB-0F25-D4D4-75E3-669A6E1001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0ED1181-A097-FC13-A72A-51549056275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a:extLst>
              <a:ext uri="{FF2B5EF4-FFF2-40B4-BE49-F238E27FC236}">
                <a16:creationId xmlns:a16="http://schemas.microsoft.com/office/drawing/2014/main" id="{BB068D90-7E50-0C3A-9E3C-47F375F29188}"/>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8" name="Marcador de pie de página 7">
            <a:extLst>
              <a:ext uri="{FF2B5EF4-FFF2-40B4-BE49-F238E27FC236}">
                <a16:creationId xmlns:a16="http://schemas.microsoft.com/office/drawing/2014/main" id="{CF7CA848-3AFF-1209-78F5-7C3E576396BA}"/>
              </a:ext>
            </a:extLst>
          </p:cNvPr>
          <p:cNvSpPr>
            <a:spLocks noGrp="1"/>
          </p:cNvSpPr>
          <p:nvPr>
            <p:ph type="ftr" sz="quarter" idx="11"/>
          </p:nvPr>
        </p:nvSpPr>
        <p:spPr/>
        <p:txBody>
          <a:bodyPr/>
          <a:lstStyle/>
          <a:p>
            <a:endParaRPr lang="es-BO"/>
          </a:p>
        </p:txBody>
      </p:sp>
      <p:sp>
        <p:nvSpPr>
          <p:cNvPr id="9" name="Marcador de número de diapositiva 8">
            <a:extLst>
              <a:ext uri="{FF2B5EF4-FFF2-40B4-BE49-F238E27FC236}">
                <a16:creationId xmlns:a16="http://schemas.microsoft.com/office/drawing/2014/main" id="{F4B3155A-1F96-D1A8-BBA6-EE1711E11B0E}"/>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372959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EAD82E-592B-121A-5EEA-AFCA1ABC5ECC}"/>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fecha 2">
            <a:extLst>
              <a:ext uri="{FF2B5EF4-FFF2-40B4-BE49-F238E27FC236}">
                <a16:creationId xmlns:a16="http://schemas.microsoft.com/office/drawing/2014/main" id="{DC5663A9-007F-E4EC-9233-0684F88DE7F5}"/>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4" name="Marcador de pie de página 3">
            <a:extLst>
              <a:ext uri="{FF2B5EF4-FFF2-40B4-BE49-F238E27FC236}">
                <a16:creationId xmlns:a16="http://schemas.microsoft.com/office/drawing/2014/main" id="{3FBD7749-63CE-EA2B-0810-EF2B3DA3518D}"/>
              </a:ext>
            </a:extLst>
          </p:cNvPr>
          <p:cNvSpPr>
            <a:spLocks noGrp="1"/>
          </p:cNvSpPr>
          <p:nvPr>
            <p:ph type="ftr" sz="quarter" idx="11"/>
          </p:nvPr>
        </p:nvSpPr>
        <p:spPr/>
        <p:txBody>
          <a:bodyPr/>
          <a:lstStyle/>
          <a:p>
            <a:endParaRPr lang="es-BO"/>
          </a:p>
        </p:txBody>
      </p:sp>
      <p:sp>
        <p:nvSpPr>
          <p:cNvPr id="5" name="Marcador de número de diapositiva 4">
            <a:extLst>
              <a:ext uri="{FF2B5EF4-FFF2-40B4-BE49-F238E27FC236}">
                <a16:creationId xmlns:a16="http://schemas.microsoft.com/office/drawing/2014/main" id="{EB1E70D3-71A4-3A5D-8E58-DDEDE9832407}"/>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3409720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21552E7-B669-8B47-72E6-328D50F463EA}"/>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3" name="Marcador de pie de página 2">
            <a:extLst>
              <a:ext uri="{FF2B5EF4-FFF2-40B4-BE49-F238E27FC236}">
                <a16:creationId xmlns:a16="http://schemas.microsoft.com/office/drawing/2014/main" id="{0DEC49B2-40F5-A4DF-0D66-0ADC78BF9704}"/>
              </a:ext>
            </a:extLst>
          </p:cNvPr>
          <p:cNvSpPr>
            <a:spLocks noGrp="1"/>
          </p:cNvSpPr>
          <p:nvPr>
            <p:ph type="ftr" sz="quarter" idx="11"/>
          </p:nvPr>
        </p:nvSpPr>
        <p:spPr/>
        <p:txBody>
          <a:bodyPr/>
          <a:lstStyle/>
          <a:p>
            <a:endParaRPr lang="es-BO"/>
          </a:p>
        </p:txBody>
      </p:sp>
      <p:sp>
        <p:nvSpPr>
          <p:cNvPr id="4" name="Marcador de número de diapositiva 3">
            <a:extLst>
              <a:ext uri="{FF2B5EF4-FFF2-40B4-BE49-F238E27FC236}">
                <a16:creationId xmlns:a16="http://schemas.microsoft.com/office/drawing/2014/main" id="{B8491379-3FAD-31CB-020B-6DF1D291EAA3}"/>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2321433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3FB06B-DBA1-1AD6-B767-B8B01128A8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BB287946-1288-22DF-44F8-A14A7D92DC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a:extLst>
              <a:ext uri="{FF2B5EF4-FFF2-40B4-BE49-F238E27FC236}">
                <a16:creationId xmlns:a16="http://schemas.microsoft.com/office/drawing/2014/main" id="{37BD8F77-B420-D5DC-9215-201ADF405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E9EA81E-E972-53B3-A6BA-B0CA7DA71E9D}"/>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6" name="Marcador de pie de página 5">
            <a:extLst>
              <a:ext uri="{FF2B5EF4-FFF2-40B4-BE49-F238E27FC236}">
                <a16:creationId xmlns:a16="http://schemas.microsoft.com/office/drawing/2014/main" id="{CF1A9B3A-6D54-72DB-638F-FC871E541A72}"/>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04A2EED8-3987-5631-4305-BDDD2B9A4D1F}"/>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354337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3B2EB-8BF1-B304-1918-69E69A92AFC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a:extLst>
              <a:ext uri="{FF2B5EF4-FFF2-40B4-BE49-F238E27FC236}">
                <a16:creationId xmlns:a16="http://schemas.microsoft.com/office/drawing/2014/main" id="{9B5380EB-6A44-79B0-0F3A-DF765BEFF9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a:extLst>
              <a:ext uri="{FF2B5EF4-FFF2-40B4-BE49-F238E27FC236}">
                <a16:creationId xmlns:a16="http://schemas.microsoft.com/office/drawing/2014/main" id="{3E681787-740B-BB8F-6AC5-8A18203CB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934B4F2-870F-B907-B12F-B5AAE5B622ED}"/>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6" name="Marcador de pie de página 5">
            <a:extLst>
              <a:ext uri="{FF2B5EF4-FFF2-40B4-BE49-F238E27FC236}">
                <a16:creationId xmlns:a16="http://schemas.microsoft.com/office/drawing/2014/main" id="{05C89917-4EBD-43A9-656E-098B6970F6F5}"/>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65380DA7-8D74-8DB4-49E9-818DCBBE9811}"/>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4224804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429B21-7EB1-7439-6EBE-AFE1DC406D70}"/>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48CA46FD-8FF6-1D71-7C8B-F2CFE1A5B59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3888009D-CAFF-5BBB-78B8-5A1EA6B6A1F3}"/>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5" name="Marcador de pie de página 4">
            <a:extLst>
              <a:ext uri="{FF2B5EF4-FFF2-40B4-BE49-F238E27FC236}">
                <a16:creationId xmlns:a16="http://schemas.microsoft.com/office/drawing/2014/main" id="{B391F789-6BA8-874B-4E48-25D7E3C6CD5C}"/>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1282F524-9308-7EA2-0337-B2A66D883BEA}"/>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1061208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8A151D2-8A7E-7BBC-6FAC-E2F12223EA0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48C23489-BEA2-344F-D16E-A9DC8ABB810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CFE0C212-991D-FFB5-03A0-87D773DB5FAA}"/>
              </a:ext>
            </a:extLst>
          </p:cNvPr>
          <p:cNvSpPr>
            <a:spLocks noGrp="1"/>
          </p:cNvSpPr>
          <p:nvPr>
            <p:ph type="dt" sz="half" idx="10"/>
          </p:nvPr>
        </p:nvSpPr>
        <p:spPr/>
        <p:txBody>
          <a:bodyPr/>
          <a:lstStyle/>
          <a:p>
            <a:fld id="{F8CE1D5D-31E2-4949-816B-67C144E4A522}" type="datetimeFigureOut">
              <a:rPr lang="es-BO" smtClean="0"/>
              <a:t>29/4/2026</a:t>
            </a:fld>
            <a:endParaRPr lang="es-BO"/>
          </a:p>
        </p:txBody>
      </p:sp>
      <p:sp>
        <p:nvSpPr>
          <p:cNvPr id="5" name="Marcador de pie de página 4">
            <a:extLst>
              <a:ext uri="{FF2B5EF4-FFF2-40B4-BE49-F238E27FC236}">
                <a16:creationId xmlns:a16="http://schemas.microsoft.com/office/drawing/2014/main" id="{466EF32E-2E49-D59C-CE0C-5B1B3C2A9324}"/>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AB298817-C716-2A4D-F2C7-9D9B7DF51E73}"/>
              </a:ext>
            </a:extLst>
          </p:cNvPr>
          <p:cNvSpPr>
            <a:spLocks noGrp="1"/>
          </p:cNvSpPr>
          <p:nvPr>
            <p:ph type="sldNum" sz="quarter" idx="12"/>
          </p:nvPr>
        </p:nvSpPr>
        <p:spPr/>
        <p:txBody>
          <a:bodyPr/>
          <a:lstStyle/>
          <a:p>
            <a:fld id="{64D4FB22-3C42-4909-8C69-5F47B40DCEED}" type="slidenum">
              <a:rPr lang="es-BO" smtClean="0"/>
              <a:t>‹Nº›</a:t>
            </a:fld>
            <a:endParaRPr lang="es-BO"/>
          </a:p>
        </p:txBody>
      </p:sp>
    </p:spTree>
    <p:extLst>
      <p:ext uri="{BB962C8B-B14F-4D97-AF65-F5344CB8AC3E}">
        <p14:creationId xmlns:p14="http://schemas.microsoft.com/office/powerpoint/2010/main" val="2006100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AFDB51-6C6C-B7D1-3C33-9852B813E2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45485CD1-E13F-61CD-55AC-83322FA324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FC129F4B-8666-9B8F-DCF4-BFF21245F9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CE1D5D-31E2-4949-816B-67C144E4A522}" type="datetimeFigureOut">
              <a:rPr lang="es-BO" smtClean="0"/>
              <a:t>29/4/2026</a:t>
            </a:fld>
            <a:endParaRPr lang="es-BO"/>
          </a:p>
        </p:txBody>
      </p:sp>
      <p:sp>
        <p:nvSpPr>
          <p:cNvPr id="5" name="Marcador de pie de página 4">
            <a:extLst>
              <a:ext uri="{FF2B5EF4-FFF2-40B4-BE49-F238E27FC236}">
                <a16:creationId xmlns:a16="http://schemas.microsoft.com/office/drawing/2014/main" id="{ECA9EED7-5729-495C-7F23-2A578418A5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a:extLst>
              <a:ext uri="{FF2B5EF4-FFF2-40B4-BE49-F238E27FC236}">
                <a16:creationId xmlns:a16="http://schemas.microsoft.com/office/drawing/2014/main" id="{EFF9779E-1764-8FF0-448D-40C88D52F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4FB22-3C42-4909-8C69-5F47B40DCEED}" type="slidenum">
              <a:rPr lang="es-BO" smtClean="0"/>
              <a:t>‹Nº›</a:t>
            </a:fld>
            <a:endParaRPr lang="es-BO"/>
          </a:p>
        </p:txBody>
      </p:sp>
    </p:spTree>
    <p:extLst>
      <p:ext uri="{BB962C8B-B14F-4D97-AF65-F5344CB8AC3E}">
        <p14:creationId xmlns:p14="http://schemas.microsoft.com/office/powerpoint/2010/main" val="3859074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hyperlink" Target="https://www.docker.com/products/docker-desktop/" TargetMode="External"/><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github.com/moby/moby"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61AB6"/>
            </a:gs>
            <a:gs pos="72000">
              <a:srgbClr val="1B20DB"/>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6851BC4-2168-D6A2-B05C-1B7F3E4294D3}"/>
              </a:ext>
            </a:extLst>
          </p:cNvPr>
          <p:cNvSpPr txBox="1"/>
          <p:nvPr/>
        </p:nvSpPr>
        <p:spPr>
          <a:xfrm>
            <a:off x="-724637" y="391479"/>
            <a:ext cx="13297637" cy="1015663"/>
          </a:xfrm>
          <a:prstGeom prst="rect">
            <a:avLst/>
          </a:prstGeom>
          <a:noFill/>
        </p:spPr>
        <p:txBody>
          <a:bodyPr wrap="square">
            <a:spAutoFit/>
          </a:bodyPr>
          <a:lstStyle/>
          <a:p>
            <a:pPr algn="ctr"/>
            <a:r>
              <a:rPr lang="es-ES" sz="6000" b="1" dirty="0">
                <a:solidFill>
                  <a:schemeClr val="bg1"/>
                </a:solidFill>
                <a:effectLst>
                  <a:glow rad="101600">
                    <a:schemeClr val="accent1">
                      <a:satMod val="175000"/>
                      <a:alpha val="40000"/>
                    </a:schemeClr>
                  </a:glow>
                </a:effectLst>
              </a:rPr>
              <a:t>CONTENEDORES Y ORQUESTACIÓN</a:t>
            </a:r>
            <a:endParaRPr lang="es-BO" sz="6000" b="1" dirty="0">
              <a:solidFill>
                <a:schemeClr val="bg1"/>
              </a:solidFill>
              <a:effectLst>
                <a:glow rad="101600">
                  <a:schemeClr val="accent1">
                    <a:satMod val="175000"/>
                    <a:alpha val="40000"/>
                  </a:schemeClr>
                </a:glow>
              </a:effectLst>
            </a:endParaRPr>
          </a:p>
        </p:txBody>
      </p:sp>
      <p:sp>
        <p:nvSpPr>
          <p:cNvPr id="2" name="Rectángulo 1">
            <a:extLst>
              <a:ext uri="{FF2B5EF4-FFF2-40B4-BE49-F238E27FC236}">
                <a16:creationId xmlns:a16="http://schemas.microsoft.com/office/drawing/2014/main" id="{1E58CDB6-B4DF-F99F-814F-14F7581F2B71}"/>
              </a:ext>
            </a:extLst>
          </p:cNvPr>
          <p:cNvSpPr/>
          <p:nvPr/>
        </p:nvSpPr>
        <p:spPr>
          <a:xfrm>
            <a:off x="0" y="1574074"/>
            <a:ext cx="12192000" cy="29908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pic>
        <p:nvPicPr>
          <p:cNvPr id="1026" name="Picture 2" descr="La Integración de Dockers y Kubernetes para la Gestión de Datos - neti">
            <a:extLst>
              <a:ext uri="{FF2B5EF4-FFF2-40B4-BE49-F238E27FC236}">
                <a16:creationId xmlns:a16="http://schemas.microsoft.com/office/drawing/2014/main" id="{39979653-3B4D-E94B-6292-70DDBD585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74074"/>
            <a:ext cx="9753600" cy="299085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E50D0316-5032-4919-E02E-226FCA1F164F}"/>
              </a:ext>
            </a:extLst>
          </p:cNvPr>
          <p:cNvSpPr/>
          <p:nvPr/>
        </p:nvSpPr>
        <p:spPr>
          <a:xfrm>
            <a:off x="292768" y="4731856"/>
            <a:ext cx="11606464" cy="174457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5" name="CuadroTexto 4">
            <a:extLst>
              <a:ext uri="{FF2B5EF4-FFF2-40B4-BE49-F238E27FC236}">
                <a16:creationId xmlns:a16="http://schemas.microsoft.com/office/drawing/2014/main" id="{7E42EFCC-DE7E-C417-1A47-5EC0EBF38AC3}"/>
              </a:ext>
            </a:extLst>
          </p:cNvPr>
          <p:cNvSpPr txBox="1"/>
          <p:nvPr/>
        </p:nvSpPr>
        <p:spPr>
          <a:xfrm>
            <a:off x="565482" y="4819315"/>
            <a:ext cx="6966286" cy="1569660"/>
          </a:xfrm>
          <a:prstGeom prst="rect">
            <a:avLst/>
          </a:prstGeom>
          <a:noFill/>
        </p:spPr>
        <p:txBody>
          <a:bodyPr wrap="square" rtlCol="0">
            <a:spAutoFit/>
          </a:bodyPr>
          <a:lstStyle/>
          <a:p>
            <a:r>
              <a:rPr lang="es-ES" sz="2400" b="1" dirty="0">
                <a:latin typeface="Aharoni" panose="02010803020104030203" pitchFamily="2" charset="-79"/>
                <a:cs typeface="Aharoni" panose="02010803020104030203" pitchFamily="2" charset="-79"/>
              </a:rPr>
              <a:t>Estudiantes:</a:t>
            </a:r>
          </a:p>
          <a:p>
            <a:pPr marL="342900" indent="-342900">
              <a:buAutoNum type="arabicPeriod"/>
            </a:pPr>
            <a:r>
              <a:rPr lang="es-BO" sz="2400" b="1" dirty="0">
                <a:latin typeface="Aharoni" panose="02010803020104030203" pitchFamily="2" charset="-79"/>
                <a:cs typeface="Aharoni" panose="02010803020104030203" pitchFamily="2" charset="-79"/>
              </a:rPr>
              <a:t>JOEL LEIVA CALLE </a:t>
            </a:r>
          </a:p>
          <a:p>
            <a:pPr marL="342900" indent="-342900">
              <a:buAutoNum type="arabicPeriod"/>
            </a:pPr>
            <a:r>
              <a:rPr lang="es-BO" sz="2400" b="1" dirty="0">
                <a:latin typeface="Aharoni" panose="02010803020104030203" pitchFamily="2" charset="-79"/>
                <a:cs typeface="Aharoni" panose="02010803020104030203" pitchFamily="2" charset="-79"/>
              </a:rPr>
              <a:t>JOSÉ DAVID CACEREZ RIVERO </a:t>
            </a:r>
          </a:p>
          <a:p>
            <a:pPr marL="342900" indent="-342900">
              <a:buAutoNum type="arabicPeriod"/>
            </a:pPr>
            <a:r>
              <a:rPr lang="es-BO" sz="2400" b="1" dirty="0">
                <a:latin typeface="Aharoni" panose="02010803020104030203" pitchFamily="2" charset="-79"/>
                <a:cs typeface="Aharoni" panose="02010803020104030203" pitchFamily="2" charset="-79"/>
              </a:rPr>
              <a:t>JOSUÉ DAVID COLQUE CANDIA</a:t>
            </a:r>
          </a:p>
        </p:txBody>
      </p:sp>
      <p:pic>
        <p:nvPicPr>
          <p:cNvPr id="1028" name="Picture 4" descr="UAB - Gob.bo">
            <a:extLst>
              <a:ext uri="{FF2B5EF4-FFF2-40B4-BE49-F238E27FC236}">
                <a16:creationId xmlns:a16="http://schemas.microsoft.com/office/drawing/2014/main" id="{136937E1-A8FB-4EA1-3DA2-EA29EB1C7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1505" y="4872850"/>
            <a:ext cx="1462589" cy="1462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9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0C90824-5329-1DE3-5697-3DECE4DCE276}"/>
              </a:ext>
            </a:extLst>
          </p:cNvPr>
          <p:cNvPicPr>
            <a:picLocks noChangeAspect="1"/>
          </p:cNvPicPr>
          <p:nvPr/>
        </p:nvPicPr>
        <p:blipFill>
          <a:blip r:embed="rId2"/>
          <a:stretch>
            <a:fillRect/>
          </a:stretch>
        </p:blipFill>
        <p:spPr>
          <a:xfrm>
            <a:off x="0" y="11575"/>
            <a:ext cx="12221518" cy="6858000"/>
          </a:xfrm>
          <a:prstGeom prst="rect">
            <a:avLst/>
          </a:prstGeom>
        </p:spPr>
      </p:pic>
      <p:grpSp>
        <p:nvGrpSpPr>
          <p:cNvPr id="7" name="Grupo 6">
            <a:extLst>
              <a:ext uri="{FF2B5EF4-FFF2-40B4-BE49-F238E27FC236}">
                <a16:creationId xmlns:a16="http://schemas.microsoft.com/office/drawing/2014/main" id="{46DF9B2C-B405-AC0C-0376-2287CFA41CC6}"/>
              </a:ext>
            </a:extLst>
          </p:cNvPr>
          <p:cNvGrpSpPr/>
          <p:nvPr/>
        </p:nvGrpSpPr>
        <p:grpSpPr>
          <a:xfrm>
            <a:off x="1964893" y="2210764"/>
            <a:ext cx="8058784" cy="4106551"/>
            <a:chOff x="800583" y="1024251"/>
            <a:chExt cx="9859702" cy="5569175"/>
          </a:xfrm>
        </p:grpSpPr>
        <p:pic>
          <p:nvPicPr>
            <p:cNvPr id="2" name="Imagen 1">
              <a:extLst>
                <a:ext uri="{FF2B5EF4-FFF2-40B4-BE49-F238E27FC236}">
                  <a16:creationId xmlns:a16="http://schemas.microsoft.com/office/drawing/2014/main" id="{1B55AC83-1906-CA1C-38BD-20AFBA9EA6F4}"/>
                </a:ext>
              </a:extLst>
            </p:cNvPr>
            <p:cNvPicPr>
              <a:picLocks noChangeAspect="1"/>
            </p:cNvPicPr>
            <p:nvPr/>
          </p:nvPicPr>
          <p:blipFill>
            <a:blip r:embed="rId3"/>
            <a:stretch>
              <a:fillRect/>
            </a:stretch>
          </p:blipFill>
          <p:spPr>
            <a:xfrm>
              <a:off x="800583" y="1024251"/>
              <a:ext cx="9859702" cy="5569175"/>
            </a:xfrm>
            <a:prstGeom prst="rect">
              <a:avLst/>
            </a:prstGeom>
          </p:spPr>
        </p:pic>
        <p:pic>
          <p:nvPicPr>
            <p:cNvPr id="6" name="Imagen 5">
              <a:extLst>
                <a:ext uri="{FF2B5EF4-FFF2-40B4-BE49-F238E27FC236}">
                  <a16:creationId xmlns:a16="http://schemas.microsoft.com/office/drawing/2014/main" id="{3F335E6E-DC34-C264-C2EF-6F3625A4B4B9}"/>
                </a:ext>
              </a:extLst>
            </p:cNvPr>
            <p:cNvPicPr>
              <a:picLocks noChangeAspect="1"/>
            </p:cNvPicPr>
            <p:nvPr/>
          </p:nvPicPr>
          <p:blipFill>
            <a:blip r:embed="rId2"/>
            <a:stretch>
              <a:fillRect/>
            </a:stretch>
          </p:blipFill>
          <p:spPr>
            <a:xfrm>
              <a:off x="6625783" y="1024252"/>
              <a:ext cx="4034502" cy="841072"/>
            </a:xfrm>
            <a:prstGeom prst="rect">
              <a:avLst/>
            </a:prstGeom>
          </p:spPr>
        </p:pic>
      </p:grpSp>
      <p:sp>
        <p:nvSpPr>
          <p:cNvPr id="8" name="CuadroTexto 7">
            <a:extLst>
              <a:ext uri="{FF2B5EF4-FFF2-40B4-BE49-F238E27FC236}">
                <a16:creationId xmlns:a16="http://schemas.microsoft.com/office/drawing/2014/main" id="{3666BC6B-29A4-C173-1C8C-9134BC5E3F5E}"/>
              </a:ext>
            </a:extLst>
          </p:cNvPr>
          <p:cNvSpPr txBox="1"/>
          <p:nvPr/>
        </p:nvSpPr>
        <p:spPr>
          <a:xfrm>
            <a:off x="4495412" y="297615"/>
            <a:ext cx="3230693" cy="646331"/>
          </a:xfrm>
          <a:prstGeom prst="rect">
            <a:avLst/>
          </a:prstGeom>
          <a:noFill/>
        </p:spPr>
        <p:txBody>
          <a:bodyPr wrap="none" rtlCol="0">
            <a:spAutoFit/>
          </a:bodyPr>
          <a:lstStyle/>
          <a:p>
            <a:r>
              <a:rPr lang="es-ES" sz="3600" b="1" dirty="0">
                <a:solidFill>
                  <a:schemeClr val="bg1"/>
                </a:solidFill>
              </a:rPr>
              <a:t>INTRODUCCIÓN</a:t>
            </a:r>
            <a:endParaRPr lang="es-BO" sz="3600" b="1" dirty="0">
              <a:solidFill>
                <a:schemeClr val="bg1"/>
              </a:solidFill>
            </a:endParaRPr>
          </a:p>
        </p:txBody>
      </p:sp>
      <p:sp>
        <p:nvSpPr>
          <p:cNvPr id="10" name="CuadroTexto 9">
            <a:extLst>
              <a:ext uri="{FF2B5EF4-FFF2-40B4-BE49-F238E27FC236}">
                <a16:creationId xmlns:a16="http://schemas.microsoft.com/office/drawing/2014/main" id="{D3BE8C0D-1C59-9F4B-D204-7C339A65D26E}"/>
              </a:ext>
            </a:extLst>
          </p:cNvPr>
          <p:cNvSpPr txBox="1"/>
          <p:nvPr/>
        </p:nvSpPr>
        <p:spPr>
          <a:xfrm>
            <a:off x="274179" y="1115690"/>
            <a:ext cx="11673157" cy="923330"/>
          </a:xfrm>
          <a:prstGeom prst="rect">
            <a:avLst/>
          </a:prstGeom>
          <a:noFill/>
        </p:spPr>
        <p:txBody>
          <a:bodyPr wrap="square">
            <a:spAutoFit/>
          </a:bodyPr>
          <a:lstStyle/>
          <a:p>
            <a:pPr algn="just"/>
            <a:r>
              <a:rPr lang="es-ES" b="1" dirty="0">
                <a:solidFill>
                  <a:schemeClr val="bg1"/>
                </a:solidFill>
              </a:rPr>
              <a:t>El proyecto "Funciona" en la computadora de origen porque utiliza versiones específicas de herramientas (Node.js v10.1.1 y Python v3.2.0), pero falla ("No Funciona") en la de destino debido a que esta tiene instaladas versiones ligeramente diferentes (Node.js v10.1.2 y Python v3.2.1).</a:t>
            </a:r>
            <a:endParaRPr lang="es-BO" b="1" dirty="0">
              <a:solidFill>
                <a:schemeClr val="bg1"/>
              </a:solidFill>
            </a:endParaRPr>
          </a:p>
        </p:txBody>
      </p:sp>
    </p:spTree>
    <p:extLst>
      <p:ext uri="{BB962C8B-B14F-4D97-AF65-F5344CB8AC3E}">
        <p14:creationId xmlns:p14="http://schemas.microsoft.com/office/powerpoint/2010/main" val="3427630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34000">
              <a:srgbClr val="2F4FD9"/>
            </a:gs>
            <a:gs pos="71000">
              <a:srgbClr val="1B20DB"/>
            </a:gs>
            <a:gs pos="100000">
              <a:srgbClr val="161AB6"/>
            </a:gs>
            <a:gs pos="100000">
              <a:schemeClr val="accent1">
                <a:lumMod val="30000"/>
                <a:lumOff val="70000"/>
              </a:schemeClr>
            </a:gs>
          </a:gsLst>
          <a:lin ang="18900000" scaled="1"/>
          <a:tileRect/>
        </a:gradFill>
        <a:effectLst/>
      </p:bgPr>
    </p:bg>
    <p:spTree>
      <p:nvGrpSpPr>
        <p:cNvPr id="1" name=""/>
        <p:cNvGrpSpPr/>
        <p:nvPr/>
      </p:nvGrpSpPr>
      <p:grpSpPr>
        <a:xfrm>
          <a:off x="0" y="0"/>
          <a:ext cx="0" cy="0"/>
          <a:chOff x="0" y="0"/>
          <a:chExt cx="0" cy="0"/>
        </a:xfrm>
      </p:grpSpPr>
      <p:sp>
        <p:nvSpPr>
          <p:cNvPr id="10" name="Rectángulo: esquinas redondeadas 9">
            <a:extLst>
              <a:ext uri="{FF2B5EF4-FFF2-40B4-BE49-F238E27FC236}">
                <a16:creationId xmlns:a16="http://schemas.microsoft.com/office/drawing/2014/main" id="{2594AD05-132E-DAF2-4DE9-F7CA6BC67C71}"/>
              </a:ext>
            </a:extLst>
          </p:cNvPr>
          <p:cNvSpPr/>
          <p:nvPr/>
        </p:nvSpPr>
        <p:spPr>
          <a:xfrm>
            <a:off x="7291407" y="1149299"/>
            <a:ext cx="4671470" cy="136388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solidFill>
                <a:schemeClr val="bg1">
                  <a:lumMod val="85000"/>
                </a:schemeClr>
              </a:solidFill>
            </a:endParaRPr>
          </a:p>
        </p:txBody>
      </p:sp>
      <p:sp>
        <p:nvSpPr>
          <p:cNvPr id="8" name="Rectángulo: esquinas redondeadas 7">
            <a:extLst>
              <a:ext uri="{FF2B5EF4-FFF2-40B4-BE49-F238E27FC236}">
                <a16:creationId xmlns:a16="http://schemas.microsoft.com/office/drawing/2014/main" id="{A0BA252B-B5C7-9607-8FAB-AC7393465E98}"/>
              </a:ext>
            </a:extLst>
          </p:cNvPr>
          <p:cNvSpPr/>
          <p:nvPr/>
        </p:nvSpPr>
        <p:spPr>
          <a:xfrm>
            <a:off x="392408" y="1189486"/>
            <a:ext cx="6250329" cy="136388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solidFill>
                <a:schemeClr val="bg1">
                  <a:lumMod val="85000"/>
                </a:schemeClr>
              </a:solidFill>
            </a:endParaRPr>
          </a:p>
        </p:txBody>
      </p:sp>
      <p:sp>
        <p:nvSpPr>
          <p:cNvPr id="2" name="Rectángulo: esquinas redondeadas 1">
            <a:extLst>
              <a:ext uri="{FF2B5EF4-FFF2-40B4-BE49-F238E27FC236}">
                <a16:creationId xmlns:a16="http://schemas.microsoft.com/office/drawing/2014/main" id="{17D5E915-859C-E5CE-A2B6-3B2F340E4A98}"/>
              </a:ext>
            </a:extLst>
          </p:cNvPr>
          <p:cNvSpPr/>
          <p:nvPr/>
        </p:nvSpPr>
        <p:spPr>
          <a:xfrm>
            <a:off x="7294060" y="2668632"/>
            <a:ext cx="4671470" cy="3677640"/>
          </a:xfrm>
          <a:prstGeom prst="roundRect">
            <a:avLst/>
          </a:prstGeom>
          <a:solidFill>
            <a:schemeClr val="bg1"/>
          </a:solidFill>
          <a:ln>
            <a:no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 name="CuadroTexto 2">
            <a:extLst>
              <a:ext uri="{FF2B5EF4-FFF2-40B4-BE49-F238E27FC236}">
                <a16:creationId xmlns:a16="http://schemas.microsoft.com/office/drawing/2014/main" id="{DC205C28-AECE-735E-3304-E076FC4861A5}"/>
              </a:ext>
            </a:extLst>
          </p:cNvPr>
          <p:cNvSpPr txBox="1"/>
          <p:nvPr/>
        </p:nvSpPr>
        <p:spPr>
          <a:xfrm>
            <a:off x="3922774" y="105962"/>
            <a:ext cx="8972465" cy="923330"/>
          </a:xfrm>
          <a:prstGeom prst="rect">
            <a:avLst/>
          </a:prstGeom>
          <a:noFill/>
          <a:scene3d>
            <a:camera prst="orthographicFront"/>
            <a:lightRig rig="threePt" dir="t"/>
          </a:scene3d>
          <a:sp3d>
            <a:bevelT/>
          </a:sp3d>
        </p:spPr>
        <p:txBody>
          <a:bodyPr wrap="square">
            <a:spAutoFit/>
            <a:sp3d extrusionH="57150">
              <a:bevelT w="38100" h="38100"/>
            </a:sp3d>
          </a:bodyPr>
          <a:lstStyle/>
          <a:p>
            <a:r>
              <a:rPr lang="es-BO" sz="5400" b="1" dirty="0">
                <a:solidFill>
                  <a:schemeClr val="bg1">
                    <a:lumMod val="95000"/>
                  </a:schemeClr>
                </a:solidFill>
                <a:effectLst>
                  <a:outerShdw blurRad="60007" dist="200025" dir="15000000" sy="30000" kx="-1800000" algn="bl" rotWithShape="0">
                    <a:prstClr val="black">
                      <a:alpha val="32000"/>
                    </a:prstClr>
                  </a:outerShdw>
                </a:effectLst>
              </a:rPr>
              <a:t>CONTENEDOR</a:t>
            </a:r>
          </a:p>
        </p:txBody>
      </p:sp>
      <p:sp>
        <p:nvSpPr>
          <p:cNvPr id="5" name="CuadroTexto 4">
            <a:extLst>
              <a:ext uri="{FF2B5EF4-FFF2-40B4-BE49-F238E27FC236}">
                <a16:creationId xmlns:a16="http://schemas.microsoft.com/office/drawing/2014/main" id="{28F17885-7D67-D12E-F977-F5240778EC50}"/>
              </a:ext>
            </a:extLst>
          </p:cNvPr>
          <p:cNvSpPr txBox="1"/>
          <p:nvPr/>
        </p:nvSpPr>
        <p:spPr>
          <a:xfrm>
            <a:off x="613242" y="1271264"/>
            <a:ext cx="5808663" cy="1200329"/>
          </a:xfrm>
          <a:prstGeom prst="rect">
            <a:avLst/>
          </a:prstGeom>
          <a:noFill/>
        </p:spPr>
        <p:txBody>
          <a:bodyPr wrap="square">
            <a:spAutoFit/>
          </a:bodyPr>
          <a:lstStyle/>
          <a:p>
            <a:pPr algn="just"/>
            <a:r>
              <a:rPr lang="es-ES" b="1" dirty="0">
                <a:solidFill>
                  <a:schemeClr val="bg1"/>
                </a:solidFill>
              </a:rPr>
              <a:t>Un contenedor es una forma de empaquetar una aplicación junto con todo lo que necesita para funcionar (librerías, dependencias, configuración), de manera que pueda ejecutarse igual en cualquier computadora o servidor.</a:t>
            </a:r>
            <a:endParaRPr lang="es-BO" b="1" dirty="0">
              <a:solidFill>
                <a:schemeClr val="bg1"/>
              </a:solidFill>
            </a:endParaRPr>
          </a:p>
        </p:txBody>
      </p:sp>
      <p:pic>
        <p:nvPicPr>
          <p:cNvPr id="1026" name="Picture 2" descr="Que son los contenedores (Informatica) Docker, Kubernetes, Mesos.">
            <a:extLst>
              <a:ext uri="{FF2B5EF4-FFF2-40B4-BE49-F238E27FC236}">
                <a16:creationId xmlns:a16="http://schemas.microsoft.com/office/drawing/2014/main" id="{F9BD7394-4E75-8985-1F17-B69C4ABC9D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08" t="30886" r="18355" b="1188"/>
          <a:stretch>
            <a:fillRect/>
          </a:stretch>
        </p:blipFill>
        <p:spPr bwMode="auto">
          <a:xfrm>
            <a:off x="392410" y="2668632"/>
            <a:ext cx="6250329" cy="36776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CuadroTexto 8">
            <a:extLst>
              <a:ext uri="{FF2B5EF4-FFF2-40B4-BE49-F238E27FC236}">
                <a16:creationId xmlns:a16="http://schemas.microsoft.com/office/drawing/2014/main" id="{AD0A5362-B8CE-B076-C214-0F488400EB20}"/>
              </a:ext>
            </a:extLst>
          </p:cNvPr>
          <p:cNvSpPr txBox="1"/>
          <p:nvPr/>
        </p:nvSpPr>
        <p:spPr>
          <a:xfrm>
            <a:off x="7772319" y="1132996"/>
            <a:ext cx="5735257" cy="400110"/>
          </a:xfrm>
          <a:prstGeom prst="rect">
            <a:avLst/>
          </a:prstGeom>
          <a:noFill/>
        </p:spPr>
        <p:txBody>
          <a:bodyPr wrap="square">
            <a:spAutoFit/>
          </a:bodyPr>
          <a:lstStyle/>
          <a:p>
            <a:r>
              <a:rPr lang="es-ES" sz="2000" b="1" u="sng" dirty="0">
                <a:solidFill>
                  <a:schemeClr val="bg1"/>
                </a:solidFill>
              </a:rPr>
              <a:t>¿CÓMO CREAR UN CONTENEDOR?</a:t>
            </a:r>
            <a:endParaRPr lang="es-BO" sz="2000" b="1" u="sng" dirty="0">
              <a:solidFill>
                <a:schemeClr val="bg1"/>
              </a:solidFill>
            </a:endParaRPr>
          </a:p>
        </p:txBody>
      </p:sp>
      <p:sp>
        <p:nvSpPr>
          <p:cNvPr id="7" name="CuadroTexto 6">
            <a:extLst>
              <a:ext uri="{FF2B5EF4-FFF2-40B4-BE49-F238E27FC236}">
                <a16:creationId xmlns:a16="http://schemas.microsoft.com/office/drawing/2014/main" id="{BB613D55-2B0A-32B5-5069-B4F151D0FD8D}"/>
              </a:ext>
            </a:extLst>
          </p:cNvPr>
          <p:cNvSpPr txBox="1"/>
          <p:nvPr/>
        </p:nvSpPr>
        <p:spPr>
          <a:xfrm>
            <a:off x="7406230" y="1481929"/>
            <a:ext cx="4393362" cy="954107"/>
          </a:xfrm>
          <a:prstGeom prst="rect">
            <a:avLst/>
          </a:prstGeom>
          <a:noFill/>
        </p:spPr>
        <p:txBody>
          <a:bodyPr wrap="square">
            <a:spAutoFit/>
          </a:bodyPr>
          <a:lstStyle/>
          <a:p>
            <a:pPr algn="just"/>
            <a:r>
              <a:rPr lang="es-ES" sz="1400" dirty="0">
                <a:solidFill>
                  <a:schemeClr val="bg1"/>
                </a:solidFill>
              </a:rPr>
              <a:t>Para la creación de contenedores existen diversas herramientas como </a:t>
            </a:r>
            <a:r>
              <a:rPr lang="es-ES" sz="1400" dirty="0" err="1">
                <a:solidFill>
                  <a:schemeClr val="bg1"/>
                </a:solidFill>
              </a:rPr>
              <a:t>Podman</a:t>
            </a:r>
            <a:r>
              <a:rPr lang="es-ES" sz="1400" dirty="0">
                <a:solidFill>
                  <a:schemeClr val="bg1"/>
                </a:solidFill>
              </a:rPr>
              <a:t>, </a:t>
            </a:r>
            <a:r>
              <a:rPr lang="es-ES" sz="1400" dirty="0" err="1">
                <a:solidFill>
                  <a:schemeClr val="bg1"/>
                </a:solidFill>
              </a:rPr>
              <a:t>containerd</a:t>
            </a:r>
            <a:r>
              <a:rPr lang="es-ES" sz="1400" dirty="0">
                <a:solidFill>
                  <a:schemeClr val="bg1"/>
                </a:solidFill>
              </a:rPr>
              <a:t> o LXC, pero, la más popular y ampliamente utilizada en la industria es Docker</a:t>
            </a:r>
            <a:endParaRPr lang="es-BO" sz="1400" dirty="0">
              <a:solidFill>
                <a:schemeClr val="bg1"/>
              </a:solidFill>
            </a:endParaRPr>
          </a:p>
        </p:txBody>
      </p:sp>
      <p:pic>
        <p:nvPicPr>
          <p:cNvPr id="1028" name="Picture 4" descr="GitHub - containers/podman: Podman: A tool for managing OCI containers and  pods. · GitHub">
            <a:extLst>
              <a:ext uri="{FF2B5EF4-FFF2-40B4-BE49-F238E27FC236}">
                <a16:creationId xmlns:a16="http://schemas.microsoft.com/office/drawing/2014/main" id="{2900C30C-EC75-DE06-49C0-7E5693FAF1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1982" y="3163465"/>
            <a:ext cx="1814051" cy="14773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troducción a LinuX Containers (LXC) | Pledin">
            <a:extLst>
              <a:ext uri="{FF2B5EF4-FFF2-40B4-BE49-F238E27FC236}">
                <a16:creationId xmlns:a16="http://schemas.microsoft.com/office/drawing/2014/main" id="{80DA8C10-B847-826D-03CC-C7E97F63F0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3955" y="3230373"/>
            <a:ext cx="2231986" cy="11984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Qué es Docker y para qué sirve">
            <a:extLst>
              <a:ext uri="{FF2B5EF4-FFF2-40B4-BE49-F238E27FC236}">
                <a16:creationId xmlns:a16="http://schemas.microsoft.com/office/drawing/2014/main" id="{CBBB663A-ECFD-E4CB-23DB-1029FD1D48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5896" y="4584228"/>
            <a:ext cx="1814051" cy="150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91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D13EBB4B-298C-28F2-34DF-5D5B5F282219}"/>
              </a:ext>
            </a:extLst>
          </p:cNvPr>
          <p:cNvSpPr/>
          <p:nvPr/>
        </p:nvSpPr>
        <p:spPr>
          <a:xfrm>
            <a:off x="5867400" y="927100"/>
            <a:ext cx="6108700" cy="5740400"/>
          </a:xfrm>
          <a:prstGeom prst="roundRect">
            <a:avLst/>
          </a:prstGeom>
          <a:gradFill flip="none" rotWithShape="1">
            <a:gsLst>
              <a:gs pos="0">
                <a:srgbClr val="1B20DB">
                  <a:shade val="30000"/>
                  <a:satMod val="115000"/>
                </a:srgbClr>
              </a:gs>
              <a:gs pos="50000">
                <a:srgbClr val="1B20DB">
                  <a:shade val="67500"/>
                  <a:satMod val="115000"/>
                </a:srgbClr>
              </a:gs>
              <a:gs pos="100000">
                <a:srgbClr val="1B20DB">
                  <a:shade val="100000"/>
                  <a:satMod val="115000"/>
                </a:srgb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pic>
        <p:nvPicPr>
          <p:cNvPr id="3" name="Imagen 2">
            <a:extLst>
              <a:ext uri="{FF2B5EF4-FFF2-40B4-BE49-F238E27FC236}">
                <a16:creationId xmlns:a16="http://schemas.microsoft.com/office/drawing/2014/main" id="{60443C5E-BC3F-0D2B-FED1-72BA2CFED37E}"/>
              </a:ext>
            </a:extLst>
          </p:cNvPr>
          <p:cNvPicPr>
            <a:picLocks noChangeAspect="1"/>
          </p:cNvPicPr>
          <p:nvPr/>
        </p:nvPicPr>
        <p:blipFill>
          <a:blip r:embed="rId2"/>
          <a:stretch>
            <a:fillRect/>
          </a:stretch>
        </p:blipFill>
        <p:spPr>
          <a:xfrm>
            <a:off x="311764" y="1482752"/>
            <a:ext cx="5263536" cy="3892496"/>
          </a:xfrm>
          <a:prstGeom prst="rect">
            <a:avLst/>
          </a:prstGeom>
        </p:spPr>
      </p:pic>
      <p:sp>
        <p:nvSpPr>
          <p:cNvPr id="11" name="CuadroTexto 10">
            <a:extLst>
              <a:ext uri="{FF2B5EF4-FFF2-40B4-BE49-F238E27FC236}">
                <a16:creationId xmlns:a16="http://schemas.microsoft.com/office/drawing/2014/main" id="{BE0ADF6E-BFE4-1BCD-EBFC-BFAAAB31688E}"/>
              </a:ext>
            </a:extLst>
          </p:cNvPr>
          <p:cNvSpPr txBox="1"/>
          <p:nvPr/>
        </p:nvSpPr>
        <p:spPr>
          <a:xfrm>
            <a:off x="6416151" y="1660988"/>
            <a:ext cx="5100899" cy="2246769"/>
          </a:xfrm>
          <a:prstGeom prst="rect">
            <a:avLst/>
          </a:prstGeom>
          <a:noFill/>
        </p:spPr>
        <p:txBody>
          <a:bodyPr wrap="square">
            <a:spAutoFit/>
          </a:bodyPr>
          <a:lstStyle/>
          <a:p>
            <a:pPr algn="just"/>
            <a:r>
              <a:rPr lang="es-ES" sz="2000" dirty="0">
                <a:solidFill>
                  <a:schemeClr val="bg1"/>
                </a:solidFill>
              </a:rPr>
              <a:t>Docker es una herramienta (plataforma de software de código abierto ) que nos permite crear, ejecutar, gestionar y distribuir contenedores, empaquetando aplicaciones junto con todas sus dependencias para que funcionen de forma aislada y en cualquier sistema.</a:t>
            </a:r>
            <a:endParaRPr lang="es-BO" sz="2000" dirty="0">
              <a:solidFill>
                <a:schemeClr val="bg1"/>
              </a:solidFill>
            </a:endParaRPr>
          </a:p>
        </p:txBody>
      </p:sp>
      <p:sp>
        <p:nvSpPr>
          <p:cNvPr id="13" name="CuadroTexto 12">
            <a:extLst>
              <a:ext uri="{FF2B5EF4-FFF2-40B4-BE49-F238E27FC236}">
                <a16:creationId xmlns:a16="http://schemas.microsoft.com/office/drawing/2014/main" id="{051FB65F-9AE8-6864-5EED-2315159982D6}"/>
              </a:ext>
            </a:extLst>
          </p:cNvPr>
          <p:cNvSpPr txBox="1"/>
          <p:nvPr/>
        </p:nvSpPr>
        <p:spPr>
          <a:xfrm>
            <a:off x="6465104" y="4003861"/>
            <a:ext cx="5002995" cy="1631216"/>
          </a:xfrm>
          <a:prstGeom prst="rect">
            <a:avLst/>
          </a:prstGeom>
          <a:noFill/>
        </p:spPr>
        <p:txBody>
          <a:bodyPr wrap="square">
            <a:spAutoFit/>
          </a:bodyPr>
          <a:lstStyle/>
          <a:p>
            <a:pPr algn="just"/>
            <a:r>
              <a:rPr lang="es-ES" sz="2000" dirty="0">
                <a:solidFill>
                  <a:schemeClr val="bg1"/>
                </a:solidFill>
              </a:rPr>
              <a:t>Su objetivo principal es resolver el problema de "funciona en mi computadora, pero no en la tuya" al garantizar que el software se ejecute de la misma forma en cualquier entorno.</a:t>
            </a:r>
            <a:endParaRPr lang="es-BO" sz="2000" dirty="0">
              <a:solidFill>
                <a:schemeClr val="bg1"/>
              </a:solidFill>
            </a:endParaRPr>
          </a:p>
        </p:txBody>
      </p:sp>
      <p:sp>
        <p:nvSpPr>
          <p:cNvPr id="2" name="Rectángulo 1">
            <a:extLst>
              <a:ext uri="{FF2B5EF4-FFF2-40B4-BE49-F238E27FC236}">
                <a16:creationId xmlns:a16="http://schemas.microsoft.com/office/drawing/2014/main" id="{05A6297C-5AC2-143B-7CB4-B6BB9A843DD8}"/>
              </a:ext>
            </a:extLst>
          </p:cNvPr>
          <p:cNvSpPr/>
          <p:nvPr/>
        </p:nvSpPr>
        <p:spPr>
          <a:xfrm>
            <a:off x="0" y="0"/>
            <a:ext cx="12192000" cy="830997"/>
          </a:xfrm>
          <a:prstGeom prst="rect">
            <a:avLst/>
          </a:prstGeom>
          <a:solidFill>
            <a:srgbClr val="161A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6ABE7627-9788-9A87-D142-BD4E0ECF3235}"/>
              </a:ext>
            </a:extLst>
          </p:cNvPr>
          <p:cNvSpPr txBox="1"/>
          <p:nvPr/>
        </p:nvSpPr>
        <p:spPr>
          <a:xfrm>
            <a:off x="4864100" y="-1"/>
            <a:ext cx="6094070" cy="830997"/>
          </a:xfrm>
          <a:prstGeom prst="rect">
            <a:avLst/>
          </a:prstGeom>
          <a:noFill/>
          <a:ln>
            <a:noFill/>
          </a:ln>
        </p:spPr>
        <p:txBody>
          <a:bodyPr wrap="square">
            <a:spAutoFit/>
          </a:bodyPr>
          <a:lstStyle/>
          <a:p>
            <a:r>
              <a:rPr lang="es-BO" sz="4800" b="1" dirty="0">
                <a:solidFill>
                  <a:schemeClr val="bg1"/>
                </a:solidFill>
              </a:rPr>
              <a:t>DOCKER</a:t>
            </a:r>
          </a:p>
        </p:txBody>
      </p:sp>
    </p:spTree>
    <p:extLst>
      <p:ext uri="{BB962C8B-B14F-4D97-AF65-F5344CB8AC3E}">
        <p14:creationId xmlns:p14="http://schemas.microsoft.com/office/powerpoint/2010/main" val="95611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4000">
              <a:srgbClr val="2F4FD9"/>
            </a:gs>
            <a:gs pos="71000">
              <a:srgbClr val="1B20DB"/>
            </a:gs>
            <a:gs pos="100000">
              <a:srgbClr val="161AB6"/>
            </a:gs>
            <a:gs pos="100000">
              <a:schemeClr val="accent1">
                <a:lumMod val="30000"/>
                <a:lumOff val="70000"/>
              </a:schemeClr>
            </a:gs>
          </a:gsLst>
          <a:lin ang="18900000" scaled="1"/>
        </a:gra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35C533F-2D34-5C7D-9FCF-93636F26E8E6}"/>
              </a:ext>
            </a:extLst>
          </p:cNvPr>
          <p:cNvSpPr txBox="1"/>
          <p:nvPr/>
        </p:nvSpPr>
        <p:spPr>
          <a:xfrm>
            <a:off x="5512529" y="2248094"/>
            <a:ext cx="6169004" cy="1200329"/>
          </a:xfrm>
          <a:prstGeom prst="rect">
            <a:avLst/>
          </a:prstGeom>
          <a:noFill/>
        </p:spPr>
        <p:txBody>
          <a:bodyPr wrap="square">
            <a:spAutoFit/>
          </a:bodyPr>
          <a:lstStyle/>
          <a:p>
            <a:pPr algn="just"/>
            <a:r>
              <a:rPr lang="es-ES" dirty="0">
                <a:solidFill>
                  <a:schemeClr val="bg1"/>
                </a:solidFill>
              </a:rPr>
              <a:t>Un </a:t>
            </a:r>
            <a:r>
              <a:rPr lang="es-ES" b="1" dirty="0" err="1">
                <a:solidFill>
                  <a:schemeClr val="bg1"/>
                </a:solidFill>
              </a:rPr>
              <a:t>kernel</a:t>
            </a:r>
            <a:r>
              <a:rPr lang="es-ES" dirty="0">
                <a:solidFill>
                  <a:schemeClr val="bg1"/>
                </a:solidFill>
              </a:rPr>
              <a:t> es la parte central de un sistema operativo que actúa como intermediario entre el hardware (procesador, memoria, disco) y el software, gestionando los recursos del sistema y permitiendo que los programas funcionen correctamente.</a:t>
            </a:r>
            <a:endParaRPr lang="es-BO" dirty="0">
              <a:solidFill>
                <a:schemeClr val="bg1"/>
              </a:solidFill>
            </a:endParaRPr>
          </a:p>
        </p:txBody>
      </p:sp>
      <p:sp>
        <p:nvSpPr>
          <p:cNvPr id="6" name="CuadroTexto 5">
            <a:extLst>
              <a:ext uri="{FF2B5EF4-FFF2-40B4-BE49-F238E27FC236}">
                <a16:creationId xmlns:a16="http://schemas.microsoft.com/office/drawing/2014/main" id="{595C3458-1D8D-3BA6-8DA4-D83FCE4B7795}"/>
              </a:ext>
            </a:extLst>
          </p:cNvPr>
          <p:cNvSpPr txBox="1"/>
          <p:nvPr/>
        </p:nvSpPr>
        <p:spPr>
          <a:xfrm>
            <a:off x="2786793" y="229413"/>
            <a:ext cx="6370077" cy="707886"/>
          </a:xfrm>
          <a:prstGeom prst="rect">
            <a:avLst/>
          </a:prstGeom>
          <a:noFill/>
        </p:spPr>
        <p:txBody>
          <a:bodyPr wrap="none" rtlCol="0">
            <a:spAutoFit/>
          </a:bodyPr>
          <a:lstStyle/>
          <a:p>
            <a:pPr algn="just"/>
            <a:r>
              <a:rPr lang="es-ES" sz="4000" b="1" dirty="0">
                <a:solidFill>
                  <a:schemeClr val="bg1"/>
                </a:solidFill>
              </a:rPr>
              <a:t>¿CÓMO FUNCIONA DOCKER?</a:t>
            </a:r>
            <a:endParaRPr lang="es-BO" sz="4000" b="1" dirty="0">
              <a:solidFill>
                <a:schemeClr val="bg1"/>
              </a:solidFill>
            </a:endParaRPr>
          </a:p>
        </p:txBody>
      </p:sp>
      <p:sp>
        <p:nvSpPr>
          <p:cNvPr id="8" name="CuadroTexto 7">
            <a:extLst>
              <a:ext uri="{FF2B5EF4-FFF2-40B4-BE49-F238E27FC236}">
                <a16:creationId xmlns:a16="http://schemas.microsoft.com/office/drawing/2014/main" id="{81A5ABCB-6340-C3EF-6C3D-D612F5D9BB4E}"/>
              </a:ext>
            </a:extLst>
          </p:cNvPr>
          <p:cNvSpPr txBox="1"/>
          <p:nvPr/>
        </p:nvSpPr>
        <p:spPr>
          <a:xfrm>
            <a:off x="494572" y="1118998"/>
            <a:ext cx="11785600" cy="369332"/>
          </a:xfrm>
          <a:prstGeom prst="rect">
            <a:avLst/>
          </a:prstGeom>
          <a:noFill/>
        </p:spPr>
        <p:txBody>
          <a:bodyPr wrap="square">
            <a:spAutoFit/>
          </a:bodyPr>
          <a:lstStyle/>
          <a:p>
            <a:pPr>
              <a:buNone/>
            </a:pPr>
            <a:r>
              <a:rPr lang="es-ES" dirty="0">
                <a:solidFill>
                  <a:schemeClr val="bg1"/>
                </a:solidFill>
              </a:rPr>
              <a:t>Docker fue diseñado para aprovechar el </a:t>
            </a:r>
            <a:r>
              <a:rPr lang="es-ES" dirty="0" err="1">
                <a:solidFill>
                  <a:schemeClr val="bg1"/>
                </a:solidFill>
              </a:rPr>
              <a:t>kernel</a:t>
            </a:r>
            <a:r>
              <a:rPr lang="es-ES" dirty="0">
                <a:solidFill>
                  <a:schemeClr val="bg1"/>
                </a:solidFill>
              </a:rPr>
              <a:t> de Linux.</a:t>
            </a:r>
          </a:p>
        </p:txBody>
      </p:sp>
      <p:pic>
        <p:nvPicPr>
          <p:cNvPr id="9" name="Imagen 8">
            <a:extLst>
              <a:ext uri="{FF2B5EF4-FFF2-40B4-BE49-F238E27FC236}">
                <a16:creationId xmlns:a16="http://schemas.microsoft.com/office/drawing/2014/main" id="{B2969234-247C-ED37-BE31-3C3A2CFCD5A2}"/>
              </a:ext>
            </a:extLst>
          </p:cNvPr>
          <p:cNvPicPr>
            <a:picLocks noChangeAspect="1"/>
          </p:cNvPicPr>
          <p:nvPr/>
        </p:nvPicPr>
        <p:blipFill>
          <a:blip r:embed="rId2"/>
          <a:stretch>
            <a:fillRect/>
          </a:stretch>
        </p:blipFill>
        <p:spPr>
          <a:xfrm>
            <a:off x="510467" y="1614602"/>
            <a:ext cx="4787510" cy="2203992"/>
          </a:xfrm>
          <a:prstGeom prst="rect">
            <a:avLst/>
          </a:prstGeom>
        </p:spPr>
      </p:pic>
      <p:sp>
        <p:nvSpPr>
          <p:cNvPr id="11" name="CuadroTexto 10">
            <a:extLst>
              <a:ext uri="{FF2B5EF4-FFF2-40B4-BE49-F238E27FC236}">
                <a16:creationId xmlns:a16="http://schemas.microsoft.com/office/drawing/2014/main" id="{07A96965-6471-96FE-1AA6-C5631FD1CF25}"/>
              </a:ext>
            </a:extLst>
          </p:cNvPr>
          <p:cNvSpPr txBox="1"/>
          <p:nvPr/>
        </p:nvSpPr>
        <p:spPr>
          <a:xfrm>
            <a:off x="510466" y="4208187"/>
            <a:ext cx="11300533" cy="2308324"/>
          </a:xfrm>
          <a:prstGeom prst="rect">
            <a:avLst/>
          </a:prstGeom>
          <a:noFill/>
        </p:spPr>
        <p:txBody>
          <a:bodyPr wrap="square">
            <a:spAutoFit/>
          </a:bodyPr>
          <a:lstStyle/>
          <a:p>
            <a:pPr algn="just">
              <a:buNone/>
            </a:pPr>
            <a:r>
              <a:rPr lang="es-ES" dirty="0">
                <a:solidFill>
                  <a:schemeClr val="bg1"/>
                </a:solidFill>
              </a:rPr>
              <a:t>Docker usa funciones del </a:t>
            </a:r>
            <a:r>
              <a:rPr lang="es-ES" dirty="0" err="1">
                <a:solidFill>
                  <a:schemeClr val="bg1"/>
                </a:solidFill>
              </a:rPr>
              <a:t>kernel</a:t>
            </a:r>
            <a:r>
              <a:rPr lang="es-ES" dirty="0">
                <a:solidFill>
                  <a:schemeClr val="bg1"/>
                </a:solidFill>
              </a:rPr>
              <a:t> de Linux que ya existen en él para crear contenedores eficientes:</a:t>
            </a:r>
          </a:p>
          <a:p>
            <a:pPr algn="just">
              <a:buNone/>
            </a:pPr>
            <a:endParaRPr lang="es-ES" dirty="0">
              <a:solidFill>
                <a:schemeClr val="bg1"/>
              </a:solidFill>
            </a:endParaRPr>
          </a:p>
          <a:p>
            <a:pPr algn="just">
              <a:buFont typeface="Arial" panose="020B0604020202020204" pitchFamily="34" charset="0"/>
              <a:buChar char="•"/>
            </a:pPr>
            <a:r>
              <a:rPr lang="es-ES" b="1" dirty="0" err="1">
                <a:solidFill>
                  <a:schemeClr val="bg1"/>
                </a:solidFill>
              </a:rPr>
              <a:t>Namespaces</a:t>
            </a:r>
            <a:r>
              <a:rPr lang="es-ES" dirty="0">
                <a:solidFill>
                  <a:schemeClr val="bg1"/>
                </a:solidFill>
              </a:rPr>
              <a:t>: permiten el </a:t>
            </a:r>
            <a:r>
              <a:rPr lang="es-ES" b="1" dirty="0">
                <a:solidFill>
                  <a:schemeClr val="bg1"/>
                </a:solidFill>
              </a:rPr>
              <a:t>aislamiento</a:t>
            </a:r>
            <a:r>
              <a:rPr lang="es-ES" dirty="0">
                <a:solidFill>
                  <a:schemeClr val="bg1"/>
                </a:solidFill>
              </a:rPr>
              <a:t>. Hacen que cada contenedor “crea” que está ejecutándose en su propio sistema independiente, separando procesos, red, usuarios y sistema de archivos. Por ejemplo, un contenedor no puede ver ni afectar los procesos de otro. </a:t>
            </a:r>
          </a:p>
          <a:p>
            <a:pPr algn="just"/>
            <a:endParaRPr lang="es-ES" dirty="0">
              <a:solidFill>
                <a:schemeClr val="bg1"/>
              </a:solidFill>
            </a:endParaRPr>
          </a:p>
          <a:p>
            <a:pPr algn="just">
              <a:buFont typeface="Arial" panose="020B0604020202020204" pitchFamily="34" charset="0"/>
              <a:buChar char="•"/>
            </a:pPr>
            <a:r>
              <a:rPr lang="es-ES" b="1" dirty="0" err="1">
                <a:solidFill>
                  <a:schemeClr val="bg1"/>
                </a:solidFill>
              </a:rPr>
              <a:t>cgroups</a:t>
            </a:r>
            <a:r>
              <a:rPr lang="es-ES" b="1" dirty="0">
                <a:solidFill>
                  <a:schemeClr val="bg1"/>
                </a:solidFill>
              </a:rPr>
              <a:t> (control </a:t>
            </a:r>
            <a:r>
              <a:rPr lang="es-ES" b="1" dirty="0" err="1">
                <a:solidFill>
                  <a:schemeClr val="bg1"/>
                </a:solidFill>
              </a:rPr>
              <a:t>groups</a:t>
            </a:r>
            <a:r>
              <a:rPr lang="es-ES" b="1" dirty="0">
                <a:solidFill>
                  <a:schemeClr val="bg1"/>
                </a:solidFill>
              </a:rPr>
              <a:t>)</a:t>
            </a:r>
            <a:r>
              <a:rPr lang="es-ES" dirty="0">
                <a:solidFill>
                  <a:schemeClr val="bg1"/>
                </a:solidFill>
              </a:rPr>
              <a:t>: permiten el </a:t>
            </a:r>
            <a:r>
              <a:rPr lang="es-ES" b="1" dirty="0">
                <a:solidFill>
                  <a:schemeClr val="bg1"/>
                </a:solidFill>
              </a:rPr>
              <a:t>control de recursos</a:t>
            </a:r>
            <a:r>
              <a:rPr lang="es-ES" dirty="0">
                <a:solidFill>
                  <a:schemeClr val="bg1"/>
                </a:solidFill>
              </a:rPr>
              <a:t>. Se encargan de limitar y distribuir el uso de CPU, memoria, disco y red para cada contenedor, evitando que uno solo consuma todos los recursos del sistema.</a:t>
            </a:r>
          </a:p>
        </p:txBody>
      </p:sp>
    </p:spTree>
    <p:extLst>
      <p:ext uri="{BB962C8B-B14F-4D97-AF65-F5344CB8AC3E}">
        <p14:creationId xmlns:p14="http://schemas.microsoft.com/office/powerpoint/2010/main" val="3403591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4000">
              <a:srgbClr val="2F4FD9"/>
            </a:gs>
            <a:gs pos="71000">
              <a:srgbClr val="1B20DB"/>
            </a:gs>
            <a:gs pos="100000">
              <a:srgbClr val="161AB6"/>
            </a:gs>
            <a:gs pos="100000">
              <a:schemeClr val="accent1">
                <a:lumMod val="30000"/>
                <a:lumOff val="70000"/>
              </a:schemeClr>
            </a:gs>
          </a:gsLst>
          <a:lin ang="18900000" scaled="1"/>
        </a:gra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8873B99-6D70-A065-B674-4468C6238E2A}"/>
              </a:ext>
            </a:extLst>
          </p:cNvPr>
          <p:cNvSpPr txBox="1"/>
          <p:nvPr/>
        </p:nvSpPr>
        <p:spPr>
          <a:xfrm>
            <a:off x="2915186" y="187769"/>
            <a:ext cx="6109942" cy="707886"/>
          </a:xfrm>
          <a:prstGeom prst="rect">
            <a:avLst/>
          </a:prstGeom>
          <a:noFill/>
        </p:spPr>
        <p:txBody>
          <a:bodyPr wrap="none" rtlCol="0">
            <a:spAutoFit/>
          </a:bodyPr>
          <a:lstStyle/>
          <a:p>
            <a:pPr algn="just"/>
            <a:r>
              <a:rPr lang="es-ES" sz="4000" b="1" dirty="0">
                <a:solidFill>
                  <a:schemeClr val="bg1"/>
                </a:solidFill>
              </a:rPr>
              <a:t>¿CÓMO INSTALAR DOCKER?</a:t>
            </a:r>
            <a:endParaRPr lang="es-BO" sz="4000" b="1" dirty="0">
              <a:solidFill>
                <a:schemeClr val="bg1"/>
              </a:solidFill>
            </a:endParaRPr>
          </a:p>
        </p:txBody>
      </p:sp>
      <p:pic>
        <p:nvPicPr>
          <p:cNvPr id="3074" name="Picture 2" descr="Windows 11 no convence a usuarios de Windows 10: se niegan a migrar pese a  insistencia de Microsoft - Infobae">
            <a:extLst>
              <a:ext uri="{FF2B5EF4-FFF2-40B4-BE49-F238E27FC236}">
                <a16:creationId xmlns:a16="http://schemas.microsoft.com/office/drawing/2014/main" id="{7B140742-1C6D-2376-ABF6-03ACAD438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508" y="1297013"/>
            <a:ext cx="4317356" cy="242851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ómo utilizo Linux en Windows 10 (WSL) para desarrollar? | by Pedro Caicedo  | Medium">
            <a:extLst>
              <a:ext uri="{FF2B5EF4-FFF2-40B4-BE49-F238E27FC236}">
                <a16:creationId xmlns:a16="http://schemas.microsoft.com/office/drawing/2014/main" id="{07039A2A-E0D6-147B-DCAF-4F8F4CBAB4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68" t="18453" r="11022" b="-1"/>
          <a:stretch>
            <a:fillRect/>
          </a:stretch>
        </p:blipFill>
        <p:spPr bwMode="auto">
          <a:xfrm>
            <a:off x="6096000" y="3854820"/>
            <a:ext cx="4622800" cy="278070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FCD5BAA2-A808-79DD-3898-61D9EF62E825}"/>
              </a:ext>
            </a:extLst>
          </p:cNvPr>
          <p:cNvSpPr txBox="1"/>
          <p:nvPr/>
        </p:nvSpPr>
        <p:spPr>
          <a:xfrm>
            <a:off x="2599242" y="4746838"/>
            <a:ext cx="1454068" cy="646331"/>
          </a:xfrm>
          <a:prstGeom prst="rect">
            <a:avLst/>
          </a:prstGeom>
          <a:noFill/>
        </p:spPr>
        <p:txBody>
          <a:bodyPr wrap="square">
            <a:spAutoFit/>
          </a:bodyPr>
          <a:lstStyle/>
          <a:p>
            <a:r>
              <a:rPr lang="es-ES" sz="3600" b="1" dirty="0">
                <a:solidFill>
                  <a:schemeClr val="bg1"/>
                </a:solidFill>
              </a:rPr>
              <a:t>WSL </a:t>
            </a:r>
            <a:endParaRPr lang="es-BO" sz="3600" dirty="0">
              <a:solidFill>
                <a:schemeClr val="bg1"/>
              </a:solidFill>
            </a:endParaRPr>
          </a:p>
        </p:txBody>
      </p:sp>
      <p:sp>
        <p:nvSpPr>
          <p:cNvPr id="12" name="CuadroTexto 11">
            <a:extLst>
              <a:ext uri="{FF2B5EF4-FFF2-40B4-BE49-F238E27FC236}">
                <a16:creationId xmlns:a16="http://schemas.microsoft.com/office/drawing/2014/main" id="{F27A7B7A-EC2B-6418-B393-10EE7B1917C7}"/>
              </a:ext>
            </a:extLst>
          </p:cNvPr>
          <p:cNvSpPr txBox="1"/>
          <p:nvPr/>
        </p:nvSpPr>
        <p:spPr>
          <a:xfrm>
            <a:off x="5410199" y="1233998"/>
            <a:ext cx="6293705" cy="2554545"/>
          </a:xfrm>
          <a:prstGeom prst="rect">
            <a:avLst/>
          </a:prstGeom>
          <a:noFill/>
        </p:spPr>
        <p:txBody>
          <a:bodyPr wrap="square">
            <a:spAutoFit/>
          </a:bodyPr>
          <a:lstStyle/>
          <a:p>
            <a:pPr algn="just"/>
            <a:r>
              <a:rPr lang="es-ES" sz="1600" dirty="0">
                <a:solidFill>
                  <a:schemeClr val="bg1"/>
                </a:solidFill>
              </a:rPr>
              <a:t>Tendríamos que tener Windows 10 o 11 porque Microsoft ha implementado una tecnología llamada </a:t>
            </a:r>
            <a:r>
              <a:rPr lang="es-ES" sz="1600" b="1" dirty="0">
                <a:solidFill>
                  <a:schemeClr val="bg1"/>
                </a:solidFill>
              </a:rPr>
              <a:t>WSL (Subsistema de Windows para Linux)</a:t>
            </a:r>
            <a:r>
              <a:rPr lang="es-ES" sz="1600" dirty="0">
                <a:solidFill>
                  <a:schemeClr val="bg1"/>
                </a:solidFill>
              </a:rPr>
              <a:t>, la cual permite ejecutar un </a:t>
            </a:r>
            <a:r>
              <a:rPr lang="es-ES" sz="1600" dirty="0" err="1">
                <a:solidFill>
                  <a:schemeClr val="bg1"/>
                </a:solidFill>
              </a:rPr>
              <a:t>kernel</a:t>
            </a:r>
            <a:r>
              <a:rPr lang="es-ES" sz="1600" dirty="0">
                <a:solidFill>
                  <a:schemeClr val="bg1"/>
                </a:solidFill>
              </a:rPr>
              <a:t> Linux real dentro de Windows. Gracias a esto podemos instalar una distribución de Linux que funciona como un “mini sistema independiente”, pero al mismo tiempo está integrada con Windows, permitiendo que ambos sistemas trabajen de forma fluida sin necesidad de una máquina virtual pesada tradicional. Y gracias a esa integración, podemos instalar Docker dentro de esa distribución de Linux y utilizar directamente el </a:t>
            </a:r>
            <a:r>
              <a:rPr lang="es-ES" sz="1600" dirty="0" err="1">
                <a:solidFill>
                  <a:schemeClr val="bg1"/>
                </a:solidFill>
              </a:rPr>
              <a:t>kernel</a:t>
            </a:r>
            <a:r>
              <a:rPr lang="es-ES" sz="1600" dirty="0">
                <a:solidFill>
                  <a:schemeClr val="bg1"/>
                </a:solidFill>
              </a:rPr>
              <a:t> de Linux, que es el que permite su funcionamiento correcto.</a:t>
            </a:r>
            <a:endParaRPr lang="es-BO" sz="1600" dirty="0">
              <a:solidFill>
                <a:schemeClr val="bg1"/>
              </a:solidFill>
            </a:endParaRPr>
          </a:p>
        </p:txBody>
      </p:sp>
      <p:sp>
        <p:nvSpPr>
          <p:cNvPr id="15" name="CuadroTexto 14">
            <a:extLst>
              <a:ext uri="{FF2B5EF4-FFF2-40B4-BE49-F238E27FC236}">
                <a16:creationId xmlns:a16="http://schemas.microsoft.com/office/drawing/2014/main" id="{2EB3CB48-F516-F590-5854-9806B6DC7AE8}"/>
              </a:ext>
            </a:extLst>
          </p:cNvPr>
          <p:cNvSpPr txBox="1"/>
          <p:nvPr/>
        </p:nvSpPr>
        <p:spPr>
          <a:xfrm>
            <a:off x="752250" y="807252"/>
            <a:ext cx="2733762" cy="461665"/>
          </a:xfrm>
          <a:prstGeom prst="rect">
            <a:avLst/>
          </a:prstGeom>
          <a:noFill/>
        </p:spPr>
        <p:txBody>
          <a:bodyPr wrap="none" rtlCol="0">
            <a:spAutoFit/>
          </a:bodyPr>
          <a:lstStyle/>
          <a:p>
            <a:r>
              <a:rPr lang="es-ES" sz="2400" b="1" dirty="0">
                <a:solidFill>
                  <a:schemeClr val="bg1"/>
                </a:solidFill>
              </a:rPr>
              <a:t>Docker en Windows</a:t>
            </a:r>
            <a:endParaRPr lang="es-BO" sz="2400" b="1" dirty="0">
              <a:solidFill>
                <a:schemeClr val="bg1"/>
              </a:solidFill>
            </a:endParaRPr>
          </a:p>
        </p:txBody>
      </p:sp>
      <p:sp>
        <p:nvSpPr>
          <p:cNvPr id="16" name="Flecha: a la derecha 15">
            <a:extLst>
              <a:ext uri="{FF2B5EF4-FFF2-40B4-BE49-F238E27FC236}">
                <a16:creationId xmlns:a16="http://schemas.microsoft.com/office/drawing/2014/main" id="{F3097DE4-5A5B-69D0-B449-2C48221BCED4}"/>
              </a:ext>
            </a:extLst>
          </p:cNvPr>
          <p:cNvSpPr/>
          <p:nvPr/>
        </p:nvSpPr>
        <p:spPr>
          <a:xfrm>
            <a:off x="4521200" y="5016500"/>
            <a:ext cx="393700" cy="2413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527081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1823AE2-8251-D0EA-4A0B-223E9F984F71}"/>
              </a:ext>
            </a:extLst>
          </p:cNvPr>
          <p:cNvPicPr>
            <a:picLocks noChangeAspect="1"/>
          </p:cNvPicPr>
          <p:nvPr/>
        </p:nvPicPr>
        <p:blipFill>
          <a:blip r:embed="rId2"/>
          <a:stretch>
            <a:fillRect/>
          </a:stretch>
        </p:blipFill>
        <p:spPr>
          <a:xfrm>
            <a:off x="855201" y="2329599"/>
            <a:ext cx="3068617" cy="2752457"/>
          </a:xfrm>
          <a:prstGeom prst="rect">
            <a:avLst/>
          </a:prstGeom>
        </p:spPr>
      </p:pic>
      <p:pic>
        <p:nvPicPr>
          <p:cNvPr id="5" name="Imagen 4">
            <a:extLst>
              <a:ext uri="{FF2B5EF4-FFF2-40B4-BE49-F238E27FC236}">
                <a16:creationId xmlns:a16="http://schemas.microsoft.com/office/drawing/2014/main" id="{2496F131-8D21-6046-ED59-692F077EB42A}"/>
              </a:ext>
            </a:extLst>
          </p:cNvPr>
          <p:cNvPicPr>
            <a:picLocks noChangeAspect="1"/>
          </p:cNvPicPr>
          <p:nvPr/>
        </p:nvPicPr>
        <p:blipFill>
          <a:blip r:embed="rId3"/>
          <a:stretch>
            <a:fillRect/>
          </a:stretch>
        </p:blipFill>
        <p:spPr>
          <a:xfrm>
            <a:off x="4197372" y="2329598"/>
            <a:ext cx="3053222" cy="2752457"/>
          </a:xfrm>
          <a:prstGeom prst="rect">
            <a:avLst/>
          </a:prstGeom>
        </p:spPr>
      </p:pic>
      <p:pic>
        <p:nvPicPr>
          <p:cNvPr id="7" name="Imagen 6">
            <a:extLst>
              <a:ext uri="{FF2B5EF4-FFF2-40B4-BE49-F238E27FC236}">
                <a16:creationId xmlns:a16="http://schemas.microsoft.com/office/drawing/2014/main" id="{6E1EFE1A-8E63-7424-2282-763B7A680850}"/>
              </a:ext>
            </a:extLst>
          </p:cNvPr>
          <p:cNvPicPr>
            <a:picLocks noChangeAspect="1"/>
          </p:cNvPicPr>
          <p:nvPr/>
        </p:nvPicPr>
        <p:blipFill>
          <a:blip r:embed="rId4"/>
          <a:stretch>
            <a:fillRect/>
          </a:stretch>
        </p:blipFill>
        <p:spPr>
          <a:xfrm>
            <a:off x="7692004" y="2285228"/>
            <a:ext cx="3137864" cy="2852604"/>
          </a:xfrm>
          <a:prstGeom prst="rect">
            <a:avLst/>
          </a:prstGeom>
        </p:spPr>
      </p:pic>
      <p:sp>
        <p:nvSpPr>
          <p:cNvPr id="8" name="Rectángulo 7">
            <a:extLst>
              <a:ext uri="{FF2B5EF4-FFF2-40B4-BE49-F238E27FC236}">
                <a16:creationId xmlns:a16="http://schemas.microsoft.com/office/drawing/2014/main" id="{82262A68-42C1-A105-8A05-A0F21FBF17B8}"/>
              </a:ext>
            </a:extLst>
          </p:cNvPr>
          <p:cNvSpPr/>
          <p:nvPr/>
        </p:nvSpPr>
        <p:spPr>
          <a:xfrm>
            <a:off x="4358020" y="4261413"/>
            <a:ext cx="1535574" cy="20834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Rectángulo 8">
            <a:extLst>
              <a:ext uri="{FF2B5EF4-FFF2-40B4-BE49-F238E27FC236}">
                <a16:creationId xmlns:a16="http://schemas.microsoft.com/office/drawing/2014/main" id="{9023D946-C70B-FF60-9951-35A66F80F3AD}"/>
              </a:ext>
            </a:extLst>
          </p:cNvPr>
          <p:cNvSpPr/>
          <p:nvPr/>
        </p:nvSpPr>
        <p:spPr>
          <a:xfrm>
            <a:off x="1043651" y="3902597"/>
            <a:ext cx="740780" cy="20834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0" name="Rectángulo 9">
            <a:extLst>
              <a:ext uri="{FF2B5EF4-FFF2-40B4-BE49-F238E27FC236}">
                <a16:creationId xmlns:a16="http://schemas.microsoft.com/office/drawing/2014/main" id="{F51227BE-ECC7-0245-C93F-C523D00B601B}"/>
              </a:ext>
            </a:extLst>
          </p:cNvPr>
          <p:cNvSpPr/>
          <p:nvPr/>
        </p:nvSpPr>
        <p:spPr>
          <a:xfrm>
            <a:off x="7901290" y="3406811"/>
            <a:ext cx="1535574" cy="20834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E338F8A3-69E9-6B8A-41DB-B984355BCBA2}"/>
              </a:ext>
            </a:extLst>
          </p:cNvPr>
          <p:cNvSpPr txBox="1"/>
          <p:nvPr/>
        </p:nvSpPr>
        <p:spPr>
          <a:xfrm>
            <a:off x="855201" y="1027293"/>
            <a:ext cx="9481617" cy="369332"/>
          </a:xfrm>
          <a:prstGeom prst="rect">
            <a:avLst/>
          </a:prstGeom>
          <a:noFill/>
        </p:spPr>
        <p:txBody>
          <a:bodyPr wrap="square">
            <a:spAutoFit/>
          </a:bodyPr>
          <a:lstStyle/>
          <a:p>
            <a:r>
              <a:rPr lang="es-ES" dirty="0"/>
              <a:t>Primero debemos asegurarnos de habilitar en “características de Windows” las opciones :</a:t>
            </a:r>
            <a:endParaRPr lang="es-BO" dirty="0"/>
          </a:p>
        </p:txBody>
      </p:sp>
      <p:sp>
        <p:nvSpPr>
          <p:cNvPr id="15" name="CuadroTexto 14">
            <a:extLst>
              <a:ext uri="{FF2B5EF4-FFF2-40B4-BE49-F238E27FC236}">
                <a16:creationId xmlns:a16="http://schemas.microsoft.com/office/drawing/2014/main" id="{4B12AA1F-FA5F-B759-D6EC-B4CB861CA860}"/>
              </a:ext>
            </a:extLst>
          </p:cNvPr>
          <p:cNvSpPr txBox="1"/>
          <p:nvPr/>
        </p:nvSpPr>
        <p:spPr>
          <a:xfrm>
            <a:off x="940443" y="1749135"/>
            <a:ext cx="2717157" cy="646331"/>
          </a:xfrm>
          <a:prstGeom prst="rect">
            <a:avLst/>
          </a:prstGeom>
          <a:noFill/>
        </p:spPr>
        <p:txBody>
          <a:bodyPr wrap="square">
            <a:spAutoFit/>
          </a:bodyPr>
          <a:lstStyle/>
          <a:p>
            <a:pPr algn="ctr"/>
            <a:r>
              <a:rPr lang="es-ES" b="1" dirty="0" err="1"/>
              <a:t>Hyper</a:t>
            </a:r>
            <a:r>
              <a:rPr lang="es-ES" b="1" dirty="0"/>
              <a:t>-V (Virtualización de Windows)</a:t>
            </a:r>
            <a:r>
              <a:rPr lang="es-ES" dirty="0"/>
              <a:t> </a:t>
            </a:r>
            <a:endParaRPr lang="es-BO" dirty="0"/>
          </a:p>
        </p:txBody>
      </p:sp>
      <p:sp>
        <p:nvSpPr>
          <p:cNvPr id="17" name="CuadroTexto 16">
            <a:extLst>
              <a:ext uri="{FF2B5EF4-FFF2-40B4-BE49-F238E27FC236}">
                <a16:creationId xmlns:a16="http://schemas.microsoft.com/office/drawing/2014/main" id="{22A6D86D-F368-136C-D09F-2716EE837B7C}"/>
              </a:ext>
            </a:extLst>
          </p:cNvPr>
          <p:cNvSpPr txBox="1"/>
          <p:nvPr/>
        </p:nvSpPr>
        <p:spPr>
          <a:xfrm>
            <a:off x="4138576" y="1749135"/>
            <a:ext cx="3338670" cy="646331"/>
          </a:xfrm>
          <a:prstGeom prst="rect">
            <a:avLst/>
          </a:prstGeom>
          <a:noFill/>
        </p:spPr>
        <p:txBody>
          <a:bodyPr wrap="square">
            <a:spAutoFit/>
          </a:bodyPr>
          <a:lstStyle/>
          <a:p>
            <a:pPr algn="ctr"/>
            <a:r>
              <a:rPr lang="es-ES" b="1" dirty="0"/>
              <a:t>Subsistema de Windows para Linux (WSL)</a:t>
            </a:r>
            <a:endParaRPr lang="es-BO" dirty="0"/>
          </a:p>
        </p:txBody>
      </p:sp>
      <p:sp>
        <p:nvSpPr>
          <p:cNvPr id="19" name="CuadroTexto 18">
            <a:extLst>
              <a:ext uri="{FF2B5EF4-FFF2-40B4-BE49-F238E27FC236}">
                <a16:creationId xmlns:a16="http://schemas.microsoft.com/office/drawing/2014/main" id="{4D3607D4-E509-4DF7-6CD5-9DF52EEEC7C7}"/>
              </a:ext>
            </a:extLst>
          </p:cNvPr>
          <p:cNvSpPr txBox="1"/>
          <p:nvPr/>
        </p:nvSpPr>
        <p:spPr>
          <a:xfrm>
            <a:off x="7477246" y="1608920"/>
            <a:ext cx="3774311" cy="646331"/>
          </a:xfrm>
          <a:prstGeom prst="rect">
            <a:avLst/>
          </a:prstGeom>
          <a:noFill/>
        </p:spPr>
        <p:txBody>
          <a:bodyPr wrap="square">
            <a:spAutoFit/>
          </a:bodyPr>
          <a:lstStyle/>
          <a:p>
            <a:pPr algn="ctr"/>
            <a:r>
              <a:rPr lang="es-ES" b="1" dirty="0"/>
              <a:t>Plataforma de máquina virtual (Virtual Machine </a:t>
            </a:r>
            <a:r>
              <a:rPr lang="es-ES" b="1" dirty="0" err="1"/>
              <a:t>Platform</a:t>
            </a:r>
            <a:r>
              <a:rPr lang="es-ES" b="1" dirty="0"/>
              <a:t>)</a:t>
            </a:r>
            <a:r>
              <a:rPr lang="es-ES" dirty="0"/>
              <a:t> </a:t>
            </a:r>
            <a:endParaRPr lang="es-BO" dirty="0"/>
          </a:p>
        </p:txBody>
      </p:sp>
      <p:sp>
        <p:nvSpPr>
          <p:cNvPr id="23" name="CuadroTexto 22">
            <a:extLst>
              <a:ext uri="{FF2B5EF4-FFF2-40B4-BE49-F238E27FC236}">
                <a16:creationId xmlns:a16="http://schemas.microsoft.com/office/drawing/2014/main" id="{9BD84789-1577-4D4A-6013-19BFFDCE5AF5}"/>
              </a:ext>
            </a:extLst>
          </p:cNvPr>
          <p:cNvSpPr txBox="1"/>
          <p:nvPr/>
        </p:nvSpPr>
        <p:spPr>
          <a:xfrm>
            <a:off x="736741" y="5747640"/>
            <a:ext cx="9974484" cy="646331"/>
          </a:xfrm>
          <a:prstGeom prst="rect">
            <a:avLst/>
          </a:prstGeom>
          <a:noFill/>
        </p:spPr>
        <p:txBody>
          <a:bodyPr wrap="square">
            <a:spAutoFit/>
          </a:bodyPr>
          <a:lstStyle/>
          <a:p>
            <a:pPr>
              <a:buNone/>
            </a:pPr>
            <a:r>
              <a:rPr lang="es-ES" dirty="0"/>
              <a:t>Con estas funciones permiten que Windows pueda crear y ejecutar entornos virtuales donde WSL  instala un </a:t>
            </a:r>
            <a:r>
              <a:rPr lang="es-ES" dirty="0" err="1"/>
              <a:t>kernel</a:t>
            </a:r>
            <a:r>
              <a:rPr lang="es-ES" dirty="0"/>
              <a:t> Linux real.</a:t>
            </a:r>
          </a:p>
        </p:txBody>
      </p:sp>
      <p:sp>
        <p:nvSpPr>
          <p:cNvPr id="24" name="CuadroTexto 23">
            <a:extLst>
              <a:ext uri="{FF2B5EF4-FFF2-40B4-BE49-F238E27FC236}">
                <a16:creationId xmlns:a16="http://schemas.microsoft.com/office/drawing/2014/main" id="{A710A2C2-D8A2-C604-5233-73D9551C61E3}"/>
              </a:ext>
            </a:extLst>
          </p:cNvPr>
          <p:cNvSpPr txBox="1"/>
          <p:nvPr/>
        </p:nvSpPr>
        <p:spPr>
          <a:xfrm>
            <a:off x="4701344" y="5137832"/>
            <a:ext cx="2384499" cy="369332"/>
          </a:xfrm>
          <a:prstGeom prst="rect">
            <a:avLst/>
          </a:prstGeom>
          <a:noFill/>
        </p:spPr>
        <p:txBody>
          <a:bodyPr wrap="none" rtlCol="0">
            <a:spAutoFit/>
          </a:bodyPr>
          <a:lstStyle/>
          <a:p>
            <a:pPr algn="ctr"/>
            <a:r>
              <a:rPr lang="es-ES" b="1" dirty="0"/>
              <a:t>Reiniciamos el sistema</a:t>
            </a:r>
            <a:endParaRPr lang="es-BO" b="1" dirty="0"/>
          </a:p>
        </p:txBody>
      </p:sp>
      <p:sp>
        <p:nvSpPr>
          <p:cNvPr id="4" name="CuadroTexto 3">
            <a:extLst>
              <a:ext uri="{FF2B5EF4-FFF2-40B4-BE49-F238E27FC236}">
                <a16:creationId xmlns:a16="http://schemas.microsoft.com/office/drawing/2014/main" id="{570BA44D-3804-A3D9-1605-92CD5E127879}"/>
              </a:ext>
            </a:extLst>
          </p:cNvPr>
          <p:cNvSpPr txBox="1"/>
          <p:nvPr/>
        </p:nvSpPr>
        <p:spPr>
          <a:xfrm>
            <a:off x="2818418" y="425413"/>
            <a:ext cx="6820882" cy="461665"/>
          </a:xfrm>
          <a:prstGeom prst="rect">
            <a:avLst/>
          </a:prstGeom>
          <a:noFill/>
        </p:spPr>
        <p:txBody>
          <a:bodyPr wrap="square">
            <a:spAutoFit/>
          </a:bodyPr>
          <a:lstStyle/>
          <a:p>
            <a:r>
              <a:rPr lang="es-ES" sz="2400" b="1" dirty="0"/>
              <a:t>PROCESO DE INSTALACIÓN DE LINUX EN WINDOWS</a:t>
            </a:r>
            <a:endParaRPr lang="es-BO" sz="2400" b="1" dirty="0"/>
          </a:p>
        </p:txBody>
      </p:sp>
    </p:spTree>
    <p:extLst>
      <p:ext uri="{BB962C8B-B14F-4D97-AF65-F5344CB8AC3E}">
        <p14:creationId xmlns:p14="http://schemas.microsoft.com/office/powerpoint/2010/main" val="32237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4D96079-B420-F49E-3E1A-2CA8D0423499}"/>
              </a:ext>
            </a:extLst>
          </p:cNvPr>
          <p:cNvSpPr txBox="1"/>
          <p:nvPr/>
        </p:nvSpPr>
        <p:spPr>
          <a:xfrm>
            <a:off x="465881" y="342378"/>
            <a:ext cx="7925764" cy="369332"/>
          </a:xfrm>
          <a:prstGeom prst="rect">
            <a:avLst/>
          </a:prstGeom>
          <a:noFill/>
        </p:spPr>
        <p:txBody>
          <a:bodyPr wrap="square">
            <a:spAutoFit/>
          </a:bodyPr>
          <a:lstStyle/>
          <a:p>
            <a:r>
              <a:rPr lang="es-ES" b="1" dirty="0"/>
              <a:t>AHORA SÍ PODEMOS ACTIVAR E INSTALAR WSL CON LOS SIGUIENTES PASOS:</a:t>
            </a:r>
            <a:endParaRPr lang="es-BO" b="1" dirty="0"/>
          </a:p>
        </p:txBody>
      </p:sp>
      <p:sp>
        <p:nvSpPr>
          <p:cNvPr id="6" name="CuadroTexto 5">
            <a:extLst>
              <a:ext uri="{FF2B5EF4-FFF2-40B4-BE49-F238E27FC236}">
                <a16:creationId xmlns:a16="http://schemas.microsoft.com/office/drawing/2014/main" id="{474CFACB-92DA-A3BA-8E5E-FB15B320579E}"/>
              </a:ext>
            </a:extLst>
          </p:cNvPr>
          <p:cNvSpPr txBox="1"/>
          <p:nvPr/>
        </p:nvSpPr>
        <p:spPr>
          <a:xfrm>
            <a:off x="465880" y="805366"/>
            <a:ext cx="8134109" cy="369332"/>
          </a:xfrm>
          <a:prstGeom prst="rect">
            <a:avLst/>
          </a:prstGeom>
          <a:noFill/>
        </p:spPr>
        <p:txBody>
          <a:bodyPr wrap="square">
            <a:spAutoFit/>
          </a:bodyPr>
          <a:lstStyle/>
          <a:p>
            <a:pPr>
              <a:buNone/>
            </a:pPr>
            <a:r>
              <a:rPr lang="es-ES" dirty="0"/>
              <a:t>Abrimos  </a:t>
            </a:r>
            <a:r>
              <a:rPr lang="es-ES" b="1" dirty="0"/>
              <a:t>PowerShell como administrador</a:t>
            </a:r>
            <a:r>
              <a:rPr lang="es-ES" dirty="0"/>
              <a:t> y ejecutamos:                        </a:t>
            </a:r>
            <a:r>
              <a:rPr lang="es-ES" dirty="0">
                <a:highlight>
                  <a:srgbClr val="FFFF00"/>
                </a:highlight>
                <a:ea typeface="ADLaM Display" panose="02010000000000000000" pitchFamily="2" charset="0"/>
                <a:cs typeface="ADLaM Display" panose="02010000000000000000" pitchFamily="2" charset="0"/>
              </a:rPr>
              <a:t>wsl --install</a:t>
            </a:r>
          </a:p>
        </p:txBody>
      </p:sp>
      <p:sp>
        <p:nvSpPr>
          <p:cNvPr id="8" name="CuadroTexto 7">
            <a:extLst>
              <a:ext uri="{FF2B5EF4-FFF2-40B4-BE49-F238E27FC236}">
                <a16:creationId xmlns:a16="http://schemas.microsoft.com/office/drawing/2014/main" id="{9E553801-22EA-FFC5-A65F-CAF6B1831E2E}"/>
              </a:ext>
            </a:extLst>
          </p:cNvPr>
          <p:cNvSpPr txBox="1"/>
          <p:nvPr/>
        </p:nvSpPr>
        <p:spPr>
          <a:xfrm>
            <a:off x="465880" y="1284116"/>
            <a:ext cx="11594940" cy="2800767"/>
          </a:xfrm>
          <a:prstGeom prst="rect">
            <a:avLst/>
          </a:prstGeom>
          <a:noFill/>
        </p:spPr>
        <p:txBody>
          <a:bodyPr wrap="square">
            <a:spAutoFit/>
          </a:bodyPr>
          <a:lstStyle/>
          <a:p>
            <a:pPr algn="just">
              <a:buNone/>
            </a:pPr>
            <a:r>
              <a:rPr lang="es-ES" sz="1600" dirty="0"/>
              <a:t>Al ejecutar el comando, Windows realiza las siguientes tareas:</a:t>
            </a:r>
          </a:p>
          <a:p>
            <a:pPr algn="just">
              <a:buNone/>
            </a:pPr>
            <a:endParaRPr lang="es-ES" sz="1600" dirty="0"/>
          </a:p>
          <a:p>
            <a:pPr algn="just">
              <a:buFont typeface="Arial" panose="020B0604020202020204" pitchFamily="34" charset="0"/>
              <a:buChar char="•"/>
            </a:pPr>
            <a:r>
              <a:rPr lang="es-ES" sz="1600" b="1" dirty="0"/>
              <a:t>Habilita los componentes necesarios:</a:t>
            </a:r>
            <a:r>
              <a:rPr lang="es-ES" sz="1600" dirty="0"/>
              <a:t> Activa las características de Windows requeridas, como "Plataforma de máquina virtual" y "Subsistema de Windows para Linux".</a:t>
            </a:r>
          </a:p>
          <a:p>
            <a:pPr algn="just"/>
            <a:endParaRPr lang="es-ES" sz="1600" dirty="0"/>
          </a:p>
          <a:p>
            <a:pPr algn="just">
              <a:buFont typeface="Arial" panose="020B0604020202020204" pitchFamily="34" charset="0"/>
              <a:buChar char="•"/>
            </a:pPr>
            <a:r>
              <a:rPr lang="es-ES" sz="1600" b="1" dirty="0"/>
              <a:t>Descarga el </a:t>
            </a:r>
            <a:r>
              <a:rPr lang="es-ES" sz="1600" b="1" dirty="0" err="1"/>
              <a:t>kernel</a:t>
            </a:r>
            <a:r>
              <a:rPr lang="es-ES" sz="1600" b="1" dirty="0"/>
              <a:t> de Linux más reciente:</a:t>
            </a:r>
            <a:r>
              <a:rPr lang="es-ES" sz="1600" dirty="0"/>
              <a:t> Obtiene el paquete oficial de Microsoft para que el sistema operativo Linux pueda correr sobre Windows.</a:t>
            </a:r>
          </a:p>
          <a:p>
            <a:pPr algn="just"/>
            <a:endParaRPr lang="es-ES" sz="1600" dirty="0"/>
          </a:p>
          <a:p>
            <a:pPr algn="just">
              <a:buFont typeface="Arial" panose="020B0604020202020204" pitchFamily="34" charset="0"/>
              <a:buChar char="•"/>
            </a:pPr>
            <a:r>
              <a:rPr lang="es-ES" sz="1600" b="1" dirty="0"/>
              <a:t>Instala la distribución predeterminada:</a:t>
            </a:r>
            <a:r>
              <a:rPr lang="es-ES" sz="1600" dirty="0"/>
              <a:t> Por defecto, descarga e instala </a:t>
            </a:r>
            <a:r>
              <a:rPr lang="es-ES" sz="1600" b="1" dirty="0"/>
              <a:t>Ubuntu</a:t>
            </a:r>
            <a:r>
              <a:rPr lang="es-ES" sz="1600" dirty="0"/>
              <a:t> (la versión más común y amigable para principiantes).</a:t>
            </a:r>
          </a:p>
          <a:p>
            <a:pPr algn="just"/>
            <a:endParaRPr lang="es-ES" sz="1600" dirty="0"/>
          </a:p>
          <a:p>
            <a:pPr algn="just">
              <a:buFont typeface="Arial" panose="020B0604020202020204" pitchFamily="34" charset="0"/>
              <a:buChar char="•"/>
            </a:pPr>
            <a:r>
              <a:rPr lang="es-ES" sz="1600" b="1" dirty="0"/>
              <a:t>Configura el entorno:</a:t>
            </a:r>
            <a:r>
              <a:rPr lang="es-ES" sz="1600" dirty="0"/>
              <a:t> Prepara los archivos necesarios para que la integración entre Windows y Linux funcione a la perfección.</a:t>
            </a:r>
          </a:p>
        </p:txBody>
      </p:sp>
      <p:pic>
        <p:nvPicPr>
          <p:cNvPr id="9" name="Picture 2" descr="Cómo utilizo Linux en Windows 10 (WSL) para desarrollar? | by Pedro Caicedo  | Medium">
            <a:extLst>
              <a:ext uri="{FF2B5EF4-FFF2-40B4-BE49-F238E27FC236}">
                <a16:creationId xmlns:a16="http://schemas.microsoft.com/office/drawing/2014/main" id="{2A2744E7-7EB3-9E71-A68F-1239079FC5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063"/>
          <a:stretch>
            <a:fillRect/>
          </a:stretch>
        </p:blipFill>
        <p:spPr bwMode="auto">
          <a:xfrm>
            <a:off x="232941" y="4194302"/>
            <a:ext cx="5660020" cy="2663698"/>
          </a:xfrm>
          <a:prstGeom prst="rect">
            <a:avLst/>
          </a:prstGeom>
          <a:noFill/>
          <a:extLst>
            <a:ext uri="{909E8E84-426E-40DD-AFC4-6F175D3DCCD1}">
              <a14:hiddenFill xmlns:a14="http://schemas.microsoft.com/office/drawing/2010/main">
                <a:solidFill>
                  <a:srgbClr val="FFFFFF"/>
                </a:solidFill>
              </a14:hiddenFill>
            </a:ext>
          </a:extLst>
        </p:spPr>
      </p:pic>
      <p:sp>
        <p:nvSpPr>
          <p:cNvPr id="10" name="Flecha: hacia la izquierda 9">
            <a:extLst>
              <a:ext uri="{FF2B5EF4-FFF2-40B4-BE49-F238E27FC236}">
                <a16:creationId xmlns:a16="http://schemas.microsoft.com/office/drawing/2014/main" id="{2F8E56BD-98BD-7120-F36F-C6D75BD7EE35}"/>
              </a:ext>
            </a:extLst>
          </p:cNvPr>
          <p:cNvSpPr/>
          <p:nvPr/>
        </p:nvSpPr>
        <p:spPr>
          <a:xfrm>
            <a:off x="4988689" y="4472095"/>
            <a:ext cx="1365813" cy="43983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pic>
        <p:nvPicPr>
          <p:cNvPr id="11" name="Picture 4" descr="Son necesarias tantas distribuciones Linux o son un problema?">
            <a:extLst>
              <a:ext uri="{FF2B5EF4-FFF2-40B4-BE49-F238E27FC236}">
                <a16:creationId xmlns:a16="http://schemas.microsoft.com/office/drawing/2014/main" id="{EEB4AC5D-643F-AFCC-98EC-8A449FEF8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7987" y="4103225"/>
            <a:ext cx="4897378" cy="275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19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C074737-EA64-8CA5-9CBE-3FD42E102E6C}"/>
              </a:ext>
            </a:extLst>
          </p:cNvPr>
          <p:cNvSpPr txBox="1"/>
          <p:nvPr/>
        </p:nvSpPr>
        <p:spPr>
          <a:xfrm>
            <a:off x="581628" y="408023"/>
            <a:ext cx="11490767" cy="1200329"/>
          </a:xfrm>
          <a:prstGeom prst="rect">
            <a:avLst/>
          </a:prstGeom>
          <a:noFill/>
        </p:spPr>
        <p:txBody>
          <a:bodyPr wrap="square">
            <a:spAutoFit/>
          </a:bodyPr>
          <a:lstStyle/>
          <a:p>
            <a:pPr algn="just">
              <a:buNone/>
            </a:pPr>
            <a:r>
              <a:rPr lang="es-ES" dirty="0"/>
              <a:t>Una vez que el comando termine de ejecutarse, el sistema pedirá reiniciar la computadora. Este paso es obligatorio para que los cambios en las características del sistema se apliquen correctamente. Después del reinicio, el sistema quedará listo para usar </a:t>
            </a:r>
            <a:r>
              <a:rPr lang="es-ES" b="1" dirty="0"/>
              <a:t>Linux a través de WSL</a:t>
            </a:r>
            <a:r>
              <a:rPr lang="es-ES" dirty="0"/>
              <a:t>, </a:t>
            </a:r>
            <a:r>
              <a:rPr lang="es-ES" dirty="0" err="1"/>
              <a:t>permitiéndo</a:t>
            </a:r>
            <a:r>
              <a:rPr lang="es-ES" dirty="0"/>
              <a:t> ejecutar una distribución de Linux dentro de Windows de forma integrada y funcional.</a:t>
            </a:r>
          </a:p>
        </p:txBody>
      </p:sp>
      <p:sp>
        <p:nvSpPr>
          <p:cNvPr id="14" name="CuadroTexto 13">
            <a:extLst>
              <a:ext uri="{FF2B5EF4-FFF2-40B4-BE49-F238E27FC236}">
                <a16:creationId xmlns:a16="http://schemas.microsoft.com/office/drawing/2014/main" id="{C4D81031-F318-B13A-E167-C2B183284BEA}"/>
              </a:ext>
            </a:extLst>
          </p:cNvPr>
          <p:cNvSpPr txBox="1"/>
          <p:nvPr/>
        </p:nvSpPr>
        <p:spPr>
          <a:xfrm>
            <a:off x="3279976" y="1652966"/>
            <a:ext cx="6094070" cy="369332"/>
          </a:xfrm>
          <a:prstGeom prst="rect">
            <a:avLst/>
          </a:prstGeom>
          <a:noFill/>
        </p:spPr>
        <p:txBody>
          <a:bodyPr wrap="square">
            <a:spAutoFit/>
          </a:bodyPr>
          <a:lstStyle/>
          <a:p>
            <a:r>
              <a:rPr lang="es-ES" b="1" dirty="0"/>
              <a:t>FORMAS PRINCIPALES DE USAR UNA DISTRIBUCIÓN DE LINUX</a:t>
            </a:r>
            <a:endParaRPr lang="es-BO" b="1" dirty="0"/>
          </a:p>
        </p:txBody>
      </p:sp>
      <p:pic>
        <p:nvPicPr>
          <p:cNvPr id="2" name="Imagen 1">
            <a:extLst>
              <a:ext uri="{FF2B5EF4-FFF2-40B4-BE49-F238E27FC236}">
                <a16:creationId xmlns:a16="http://schemas.microsoft.com/office/drawing/2014/main" id="{0578BDF8-9F84-AD84-8930-AFDBD53EFC73}"/>
              </a:ext>
            </a:extLst>
          </p:cNvPr>
          <p:cNvPicPr>
            <a:picLocks noChangeAspect="1"/>
          </p:cNvPicPr>
          <p:nvPr/>
        </p:nvPicPr>
        <p:blipFill>
          <a:blip r:embed="rId2"/>
          <a:stretch>
            <a:fillRect/>
          </a:stretch>
        </p:blipFill>
        <p:spPr>
          <a:xfrm>
            <a:off x="581628" y="2634748"/>
            <a:ext cx="4490829" cy="3807200"/>
          </a:xfrm>
          <a:prstGeom prst="rect">
            <a:avLst/>
          </a:prstGeom>
        </p:spPr>
      </p:pic>
      <p:sp>
        <p:nvSpPr>
          <p:cNvPr id="3" name="CuadroTexto 2">
            <a:extLst>
              <a:ext uri="{FF2B5EF4-FFF2-40B4-BE49-F238E27FC236}">
                <a16:creationId xmlns:a16="http://schemas.microsoft.com/office/drawing/2014/main" id="{E7A94C50-BF42-075E-8AAD-68A96447D37C}"/>
              </a:ext>
            </a:extLst>
          </p:cNvPr>
          <p:cNvSpPr txBox="1"/>
          <p:nvPr/>
        </p:nvSpPr>
        <p:spPr>
          <a:xfrm>
            <a:off x="581628" y="2138930"/>
            <a:ext cx="11058806" cy="338554"/>
          </a:xfrm>
          <a:prstGeom prst="rect">
            <a:avLst/>
          </a:prstGeom>
          <a:noFill/>
        </p:spPr>
        <p:txBody>
          <a:bodyPr wrap="square">
            <a:spAutoFit/>
          </a:bodyPr>
          <a:lstStyle/>
          <a:p>
            <a:pPr algn="just"/>
            <a:r>
              <a:rPr lang="es-ES" sz="1600" b="1" dirty="0"/>
              <a:t>ABRIR UNA DISTRIBUCIÓN DE LINUX DESDE INICIO</a:t>
            </a:r>
            <a:endParaRPr lang="es-BO" sz="1600" b="1" dirty="0"/>
          </a:p>
        </p:txBody>
      </p:sp>
      <p:pic>
        <p:nvPicPr>
          <p:cNvPr id="7" name="Imagen 6">
            <a:extLst>
              <a:ext uri="{FF2B5EF4-FFF2-40B4-BE49-F238E27FC236}">
                <a16:creationId xmlns:a16="http://schemas.microsoft.com/office/drawing/2014/main" id="{C2AF73CD-FBAD-9B51-1563-325F16CBB6AF}"/>
              </a:ext>
            </a:extLst>
          </p:cNvPr>
          <p:cNvPicPr>
            <a:picLocks noChangeAspect="1"/>
          </p:cNvPicPr>
          <p:nvPr/>
        </p:nvPicPr>
        <p:blipFill>
          <a:blip r:embed="rId3"/>
          <a:stretch>
            <a:fillRect/>
          </a:stretch>
        </p:blipFill>
        <p:spPr>
          <a:xfrm>
            <a:off x="6327011" y="2659396"/>
            <a:ext cx="4975506" cy="3790581"/>
          </a:xfrm>
          <a:prstGeom prst="rect">
            <a:avLst/>
          </a:prstGeom>
        </p:spPr>
      </p:pic>
    </p:spTree>
    <p:extLst>
      <p:ext uri="{BB962C8B-B14F-4D97-AF65-F5344CB8AC3E}">
        <p14:creationId xmlns:p14="http://schemas.microsoft.com/office/powerpoint/2010/main" val="1861419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14">
            <a:extLst>
              <a:ext uri="{FF2B5EF4-FFF2-40B4-BE49-F238E27FC236}">
                <a16:creationId xmlns:a16="http://schemas.microsoft.com/office/drawing/2014/main" id="{9354A8EA-E521-EB21-ECDC-6954FD25A3D4}"/>
              </a:ext>
            </a:extLst>
          </p:cNvPr>
          <p:cNvSpPr txBox="1"/>
          <p:nvPr/>
        </p:nvSpPr>
        <p:spPr>
          <a:xfrm>
            <a:off x="638520" y="2714478"/>
            <a:ext cx="9546220" cy="646331"/>
          </a:xfrm>
          <a:prstGeom prst="rect">
            <a:avLst/>
          </a:prstGeom>
          <a:noFill/>
        </p:spPr>
        <p:txBody>
          <a:bodyPr wrap="square">
            <a:spAutoFit/>
          </a:bodyPr>
          <a:lstStyle/>
          <a:p>
            <a:r>
              <a:rPr lang="es-ES" dirty="0"/>
              <a:t>Ejecutamos estos comandos en  CMD </a:t>
            </a:r>
            <a:r>
              <a:rPr lang="es-BO" dirty="0"/>
              <a:t>:</a:t>
            </a:r>
          </a:p>
          <a:p>
            <a:endParaRPr lang="es-BO" dirty="0"/>
          </a:p>
        </p:txBody>
      </p:sp>
      <p:pic>
        <p:nvPicPr>
          <p:cNvPr id="5" name="Imagen 4">
            <a:extLst>
              <a:ext uri="{FF2B5EF4-FFF2-40B4-BE49-F238E27FC236}">
                <a16:creationId xmlns:a16="http://schemas.microsoft.com/office/drawing/2014/main" id="{59EEDC87-175E-0F48-158F-C13CB72C9BED}"/>
              </a:ext>
            </a:extLst>
          </p:cNvPr>
          <p:cNvPicPr>
            <a:picLocks noChangeAspect="1"/>
          </p:cNvPicPr>
          <p:nvPr/>
        </p:nvPicPr>
        <p:blipFill>
          <a:blip r:embed="rId2"/>
          <a:stretch>
            <a:fillRect/>
          </a:stretch>
        </p:blipFill>
        <p:spPr>
          <a:xfrm>
            <a:off x="569483" y="3690408"/>
            <a:ext cx="5929706" cy="1795785"/>
          </a:xfrm>
          <a:prstGeom prst="rect">
            <a:avLst/>
          </a:prstGeom>
        </p:spPr>
      </p:pic>
      <p:sp>
        <p:nvSpPr>
          <p:cNvPr id="6" name="Flecha: hacia la izquierda 5">
            <a:extLst>
              <a:ext uri="{FF2B5EF4-FFF2-40B4-BE49-F238E27FC236}">
                <a16:creationId xmlns:a16="http://schemas.microsoft.com/office/drawing/2014/main" id="{EE99CA7F-2531-EADB-8979-9D8ACE70CE6E}"/>
              </a:ext>
            </a:extLst>
          </p:cNvPr>
          <p:cNvSpPr/>
          <p:nvPr/>
        </p:nvSpPr>
        <p:spPr>
          <a:xfrm>
            <a:off x="2808044" y="5044666"/>
            <a:ext cx="347240" cy="173620"/>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532CEC67-8182-748C-D56A-7860980738FC}"/>
              </a:ext>
            </a:extLst>
          </p:cNvPr>
          <p:cNvSpPr txBox="1"/>
          <p:nvPr/>
        </p:nvSpPr>
        <p:spPr>
          <a:xfrm>
            <a:off x="569483" y="1506473"/>
            <a:ext cx="11264699" cy="1200329"/>
          </a:xfrm>
          <a:prstGeom prst="rect">
            <a:avLst/>
          </a:prstGeom>
          <a:noFill/>
        </p:spPr>
        <p:txBody>
          <a:bodyPr wrap="square">
            <a:spAutoFit/>
          </a:bodyPr>
          <a:lstStyle/>
          <a:p>
            <a:pPr algn="just"/>
            <a:r>
              <a:rPr lang="es-ES" dirty="0"/>
              <a:t>Usando el comando “wsl” podemos abrir una distribución ,pero primero debemos verificar qué distribuciones tenemos instaladas en el sistema y cuál está configurada como </a:t>
            </a:r>
            <a:r>
              <a:rPr lang="es-ES" b="1" dirty="0"/>
              <a:t>“predeterminada”</a:t>
            </a:r>
            <a:r>
              <a:rPr lang="es-ES" dirty="0"/>
              <a:t>. Esto es importante porque la distribución predeterminada es la que se abrirá automáticamente cuando usemos el comando </a:t>
            </a:r>
            <a:r>
              <a:rPr lang="es-ES" b="1" dirty="0"/>
              <a:t>wsl</a:t>
            </a:r>
            <a:r>
              <a:rPr lang="es-ES" dirty="0"/>
              <a:t> sin especificar ninguna otra.</a:t>
            </a:r>
            <a:endParaRPr lang="es-BO" dirty="0"/>
          </a:p>
          <a:p>
            <a:pPr algn="just"/>
            <a:endParaRPr lang="es-BO" dirty="0"/>
          </a:p>
        </p:txBody>
      </p:sp>
      <p:sp>
        <p:nvSpPr>
          <p:cNvPr id="17" name="CuadroTexto 16">
            <a:extLst>
              <a:ext uri="{FF2B5EF4-FFF2-40B4-BE49-F238E27FC236}">
                <a16:creationId xmlns:a16="http://schemas.microsoft.com/office/drawing/2014/main" id="{0796CDD1-FC8B-ACF0-CBE6-7A3AC584C113}"/>
              </a:ext>
            </a:extLst>
          </p:cNvPr>
          <p:cNvSpPr txBox="1"/>
          <p:nvPr/>
        </p:nvSpPr>
        <p:spPr>
          <a:xfrm>
            <a:off x="3896328" y="779983"/>
            <a:ext cx="6094070" cy="523220"/>
          </a:xfrm>
          <a:prstGeom prst="rect">
            <a:avLst/>
          </a:prstGeom>
          <a:noFill/>
        </p:spPr>
        <p:txBody>
          <a:bodyPr wrap="square">
            <a:spAutoFit/>
          </a:bodyPr>
          <a:lstStyle/>
          <a:p>
            <a:r>
              <a:rPr lang="es-BO" sz="2800" b="1" dirty="0"/>
              <a:t>USO POR COMANDOS (TERMINAL</a:t>
            </a:r>
            <a:r>
              <a:rPr lang="es-BO" sz="2800" dirty="0"/>
              <a:t>)</a:t>
            </a:r>
          </a:p>
        </p:txBody>
      </p:sp>
      <p:sp>
        <p:nvSpPr>
          <p:cNvPr id="19" name="CuadroTexto 18">
            <a:extLst>
              <a:ext uri="{FF2B5EF4-FFF2-40B4-BE49-F238E27FC236}">
                <a16:creationId xmlns:a16="http://schemas.microsoft.com/office/drawing/2014/main" id="{7D0ADBF7-2439-EC79-0BD3-98AD90E387C2}"/>
              </a:ext>
            </a:extLst>
          </p:cNvPr>
          <p:cNvSpPr txBox="1"/>
          <p:nvPr/>
        </p:nvSpPr>
        <p:spPr>
          <a:xfrm>
            <a:off x="2555681" y="3239657"/>
            <a:ext cx="6094070" cy="369332"/>
          </a:xfrm>
          <a:prstGeom prst="rect">
            <a:avLst/>
          </a:prstGeom>
          <a:noFill/>
        </p:spPr>
        <p:txBody>
          <a:bodyPr wrap="square">
            <a:spAutoFit/>
          </a:bodyPr>
          <a:lstStyle/>
          <a:p>
            <a:pPr>
              <a:buNone/>
            </a:pPr>
            <a:r>
              <a:rPr lang="es-BO" b="1" dirty="0"/>
              <a:t>Ver distros instaladas</a:t>
            </a:r>
          </a:p>
        </p:txBody>
      </p:sp>
      <p:sp>
        <p:nvSpPr>
          <p:cNvPr id="23" name="CuadroTexto 22">
            <a:extLst>
              <a:ext uri="{FF2B5EF4-FFF2-40B4-BE49-F238E27FC236}">
                <a16:creationId xmlns:a16="http://schemas.microsoft.com/office/drawing/2014/main" id="{7DB20F26-C03A-200F-8442-62FF3BBB6CC9}"/>
              </a:ext>
            </a:extLst>
          </p:cNvPr>
          <p:cNvSpPr txBox="1"/>
          <p:nvPr/>
        </p:nvSpPr>
        <p:spPr>
          <a:xfrm>
            <a:off x="6737510" y="3167191"/>
            <a:ext cx="6093994" cy="369332"/>
          </a:xfrm>
          <a:prstGeom prst="rect">
            <a:avLst/>
          </a:prstGeom>
          <a:noFill/>
        </p:spPr>
        <p:txBody>
          <a:bodyPr wrap="square">
            <a:spAutoFit/>
          </a:bodyPr>
          <a:lstStyle/>
          <a:p>
            <a:pPr>
              <a:buNone/>
            </a:pPr>
            <a:r>
              <a:rPr lang="es-ES" b="1" dirty="0"/>
              <a:t>Abrir la distro por defecto :</a:t>
            </a:r>
          </a:p>
        </p:txBody>
      </p:sp>
      <p:pic>
        <p:nvPicPr>
          <p:cNvPr id="27" name="Imagen 26">
            <a:extLst>
              <a:ext uri="{FF2B5EF4-FFF2-40B4-BE49-F238E27FC236}">
                <a16:creationId xmlns:a16="http://schemas.microsoft.com/office/drawing/2014/main" id="{FEAF0C3A-AF02-7324-0706-4CDD388E1A93}"/>
              </a:ext>
            </a:extLst>
          </p:cNvPr>
          <p:cNvPicPr>
            <a:picLocks noChangeAspect="1"/>
          </p:cNvPicPr>
          <p:nvPr/>
        </p:nvPicPr>
        <p:blipFill>
          <a:blip r:embed="rId3"/>
          <a:stretch>
            <a:fillRect/>
          </a:stretch>
        </p:blipFill>
        <p:spPr>
          <a:xfrm>
            <a:off x="9533449" y="3148668"/>
            <a:ext cx="651291" cy="414458"/>
          </a:xfrm>
          <a:prstGeom prst="rect">
            <a:avLst/>
          </a:prstGeom>
        </p:spPr>
      </p:pic>
      <p:pic>
        <p:nvPicPr>
          <p:cNvPr id="29" name="Imagen 28">
            <a:extLst>
              <a:ext uri="{FF2B5EF4-FFF2-40B4-BE49-F238E27FC236}">
                <a16:creationId xmlns:a16="http://schemas.microsoft.com/office/drawing/2014/main" id="{86B99E80-77D6-C3E7-2EB3-D7586F034263}"/>
              </a:ext>
            </a:extLst>
          </p:cNvPr>
          <p:cNvPicPr>
            <a:picLocks noChangeAspect="1"/>
          </p:cNvPicPr>
          <p:nvPr/>
        </p:nvPicPr>
        <p:blipFill>
          <a:blip r:embed="rId4"/>
          <a:stretch>
            <a:fillRect/>
          </a:stretch>
        </p:blipFill>
        <p:spPr>
          <a:xfrm>
            <a:off x="638520" y="3028692"/>
            <a:ext cx="1033463" cy="646331"/>
          </a:xfrm>
          <a:prstGeom prst="rect">
            <a:avLst/>
          </a:prstGeom>
        </p:spPr>
      </p:pic>
      <p:pic>
        <p:nvPicPr>
          <p:cNvPr id="33" name="Imagen 32">
            <a:extLst>
              <a:ext uri="{FF2B5EF4-FFF2-40B4-BE49-F238E27FC236}">
                <a16:creationId xmlns:a16="http://schemas.microsoft.com/office/drawing/2014/main" id="{FB2F3117-2022-9EA6-253F-76417A123F76}"/>
              </a:ext>
            </a:extLst>
          </p:cNvPr>
          <p:cNvPicPr>
            <a:picLocks noChangeAspect="1"/>
          </p:cNvPicPr>
          <p:nvPr/>
        </p:nvPicPr>
        <p:blipFill>
          <a:blip r:embed="rId5"/>
          <a:srcRect r="38776" b="50328"/>
          <a:stretch>
            <a:fillRect/>
          </a:stretch>
        </p:blipFill>
        <p:spPr>
          <a:xfrm>
            <a:off x="6737510" y="3665684"/>
            <a:ext cx="5267492" cy="2255877"/>
          </a:xfrm>
          <a:prstGeom prst="rect">
            <a:avLst/>
          </a:prstGeom>
        </p:spPr>
      </p:pic>
    </p:spTree>
    <p:extLst>
      <p:ext uri="{BB962C8B-B14F-4D97-AF65-F5344CB8AC3E}">
        <p14:creationId xmlns:p14="http://schemas.microsoft.com/office/powerpoint/2010/main" val="3154080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3116969-A8E9-34DC-ACB9-3C8161943530}"/>
              </a:ext>
            </a:extLst>
          </p:cNvPr>
          <p:cNvSpPr txBox="1"/>
          <p:nvPr/>
        </p:nvSpPr>
        <p:spPr>
          <a:xfrm>
            <a:off x="3733887" y="247062"/>
            <a:ext cx="6096000" cy="461665"/>
          </a:xfrm>
          <a:prstGeom prst="rect">
            <a:avLst/>
          </a:prstGeom>
          <a:noFill/>
        </p:spPr>
        <p:txBody>
          <a:bodyPr wrap="square">
            <a:spAutoFit/>
          </a:bodyPr>
          <a:lstStyle/>
          <a:p>
            <a:r>
              <a:rPr lang="es-ES" sz="2400" b="1" dirty="0"/>
              <a:t>Comandos más importantes de WSL</a:t>
            </a:r>
            <a:endParaRPr lang="es-BO" sz="2400" dirty="0"/>
          </a:p>
        </p:txBody>
      </p:sp>
      <p:sp>
        <p:nvSpPr>
          <p:cNvPr id="5" name="CuadroTexto 4">
            <a:extLst>
              <a:ext uri="{FF2B5EF4-FFF2-40B4-BE49-F238E27FC236}">
                <a16:creationId xmlns:a16="http://schemas.microsoft.com/office/drawing/2014/main" id="{D255311D-B48B-C736-B768-EF90F131531A}"/>
              </a:ext>
            </a:extLst>
          </p:cNvPr>
          <p:cNvSpPr txBox="1"/>
          <p:nvPr/>
        </p:nvSpPr>
        <p:spPr>
          <a:xfrm>
            <a:off x="508000" y="1009134"/>
            <a:ext cx="6096000" cy="369332"/>
          </a:xfrm>
          <a:prstGeom prst="rect">
            <a:avLst/>
          </a:prstGeom>
          <a:noFill/>
        </p:spPr>
        <p:txBody>
          <a:bodyPr wrap="square">
            <a:spAutoFit/>
          </a:bodyPr>
          <a:lstStyle/>
          <a:p>
            <a:r>
              <a:rPr lang="es-BO" dirty="0"/>
              <a:t>1. Descargar / instalar una distro :</a:t>
            </a:r>
          </a:p>
        </p:txBody>
      </p:sp>
      <p:pic>
        <p:nvPicPr>
          <p:cNvPr id="7" name="Imagen 6">
            <a:extLst>
              <a:ext uri="{FF2B5EF4-FFF2-40B4-BE49-F238E27FC236}">
                <a16:creationId xmlns:a16="http://schemas.microsoft.com/office/drawing/2014/main" id="{836D4508-272C-AA9C-1A7B-43D3417A9AFE}"/>
              </a:ext>
            </a:extLst>
          </p:cNvPr>
          <p:cNvPicPr>
            <a:picLocks noChangeAspect="1"/>
          </p:cNvPicPr>
          <p:nvPr/>
        </p:nvPicPr>
        <p:blipFill>
          <a:blip r:embed="rId2"/>
          <a:stretch>
            <a:fillRect/>
          </a:stretch>
        </p:blipFill>
        <p:spPr>
          <a:xfrm>
            <a:off x="4264025" y="926164"/>
            <a:ext cx="3178175" cy="535272"/>
          </a:xfrm>
          <a:prstGeom prst="rect">
            <a:avLst/>
          </a:prstGeom>
        </p:spPr>
      </p:pic>
      <p:sp>
        <p:nvSpPr>
          <p:cNvPr id="9" name="CuadroTexto 8">
            <a:extLst>
              <a:ext uri="{FF2B5EF4-FFF2-40B4-BE49-F238E27FC236}">
                <a16:creationId xmlns:a16="http://schemas.microsoft.com/office/drawing/2014/main" id="{97D3EDE0-C292-93FF-7CAF-EAD6BB36369B}"/>
              </a:ext>
            </a:extLst>
          </p:cNvPr>
          <p:cNvSpPr txBox="1"/>
          <p:nvPr/>
        </p:nvSpPr>
        <p:spPr>
          <a:xfrm>
            <a:off x="4264025" y="1450105"/>
            <a:ext cx="6096000" cy="369332"/>
          </a:xfrm>
          <a:prstGeom prst="rect">
            <a:avLst/>
          </a:prstGeom>
          <a:noFill/>
        </p:spPr>
        <p:txBody>
          <a:bodyPr wrap="square">
            <a:spAutoFit/>
          </a:bodyPr>
          <a:lstStyle/>
          <a:p>
            <a:r>
              <a:rPr lang="es-ES" dirty="0"/>
              <a:t>(Podemos cambiar por otra distro como Debian, Kali, etc.)</a:t>
            </a:r>
            <a:endParaRPr lang="es-BO" dirty="0"/>
          </a:p>
        </p:txBody>
      </p:sp>
      <p:sp>
        <p:nvSpPr>
          <p:cNvPr id="11" name="CuadroTexto 10">
            <a:extLst>
              <a:ext uri="{FF2B5EF4-FFF2-40B4-BE49-F238E27FC236}">
                <a16:creationId xmlns:a16="http://schemas.microsoft.com/office/drawing/2014/main" id="{9E4A742D-40B1-5098-A2D3-35041A1BAEF3}"/>
              </a:ext>
            </a:extLst>
          </p:cNvPr>
          <p:cNvSpPr txBox="1"/>
          <p:nvPr/>
        </p:nvSpPr>
        <p:spPr>
          <a:xfrm>
            <a:off x="508000" y="2343378"/>
            <a:ext cx="6096000" cy="369332"/>
          </a:xfrm>
          <a:prstGeom prst="rect">
            <a:avLst/>
          </a:prstGeom>
          <a:noFill/>
        </p:spPr>
        <p:txBody>
          <a:bodyPr wrap="square">
            <a:spAutoFit/>
          </a:bodyPr>
          <a:lstStyle/>
          <a:p>
            <a:r>
              <a:rPr lang="es-BO" dirty="0"/>
              <a:t>2. Ver lista de distribuciones instaladas</a:t>
            </a:r>
          </a:p>
        </p:txBody>
      </p:sp>
      <p:pic>
        <p:nvPicPr>
          <p:cNvPr id="13" name="Imagen 12">
            <a:extLst>
              <a:ext uri="{FF2B5EF4-FFF2-40B4-BE49-F238E27FC236}">
                <a16:creationId xmlns:a16="http://schemas.microsoft.com/office/drawing/2014/main" id="{43E85841-81C8-751E-00D4-B98CA0E90159}"/>
              </a:ext>
            </a:extLst>
          </p:cNvPr>
          <p:cNvPicPr>
            <a:picLocks noChangeAspect="1"/>
          </p:cNvPicPr>
          <p:nvPr/>
        </p:nvPicPr>
        <p:blipFill>
          <a:blip r:embed="rId3"/>
          <a:stretch>
            <a:fillRect/>
          </a:stretch>
        </p:blipFill>
        <p:spPr>
          <a:xfrm>
            <a:off x="4149724" y="2223760"/>
            <a:ext cx="1475669" cy="565150"/>
          </a:xfrm>
          <a:prstGeom prst="rect">
            <a:avLst/>
          </a:prstGeom>
        </p:spPr>
      </p:pic>
      <p:pic>
        <p:nvPicPr>
          <p:cNvPr id="15" name="Imagen 14">
            <a:extLst>
              <a:ext uri="{FF2B5EF4-FFF2-40B4-BE49-F238E27FC236}">
                <a16:creationId xmlns:a16="http://schemas.microsoft.com/office/drawing/2014/main" id="{860D633B-18AE-81A9-5A47-CC519369E734}"/>
              </a:ext>
            </a:extLst>
          </p:cNvPr>
          <p:cNvPicPr>
            <a:picLocks noChangeAspect="1"/>
          </p:cNvPicPr>
          <p:nvPr/>
        </p:nvPicPr>
        <p:blipFill>
          <a:blip r:embed="rId4"/>
          <a:srcRect r="4811" b="26695"/>
          <a:stretch>
            <a:fillRect/>
          </a:stretch>
        </p:blipFill>
        <p:spPr>
          <a:xfrm>
            <a:off x="6566609" y="2279938"/>
            <a:ext cx="2166938" cy="782022"/>
          </a:xfrm>
          <a:prstGeom prst="rect">
            <a:avLst/>
          </a:prstGeom>
        </p:spPr>
      </p:pic>
      <p:sp>
        <p:nvSpPr>
          <p:cNvPr id="17" name="CuadroTexto 16">
            <a:extLst>
              <a:ext uri="{FF2B5EF4-FFF2-40B4-BE49-F238E27FC236}">
                <a16:creationId xmlns:a16="http://schemas.microsoft.com/office/drawing/2014/main" id="{F61B3E27-A966-EF0E-6E68-57499160FAFA}"/>
              </a:ext>
            </a:extLst>
          </p:cNvPr>
          <p:cNvSpPr txBox="1"/>
          <p:nvPr/>
        </p:nvSpPr>
        <p:spPr>
          <a:xfrm>
            <a:off x="508000" y="3677622"/>
            <a:ext cx="6096000" cy="369332"/>
          </a:xfrm>
          <a:prstGeom prst="rect">
            <a:avLst/>
          </a:prstGeom>
          <a:noFill/>
        </p:spPr>
        <p:txBody>
          <a:bodyPr wrap="square">
            <a:spAutoFit/>
          </a:bodyPr>
          <a:lstStyle/>
          <a:p>
            <a:pPr>
              <a:buNone/>
            </a:pPr>
            <a:r>
              <a:rPr lang="es-BO" dirty="0"/>
              <a:t>3 Abrir una distribución específica</a:t>
            </a:r>
          </a:p>
        </p:txBody>
      </p:sp>
      <p:pic>
        <p:nvPicPr>
          <p:cNvPr id="19" name="Imagen 18">
            <a:extLst>
              <a:ext uri="{FF2B5EF4-FFF2-40B4-BE49-F238E27FC236}">
                <a16:creationId xmlns:a16="http://schemas.microsoft.com/office/drawing/2014/main" id="{3347069E-3D87-E368-C2A8-53E2070C10F1}"/>
              </a:ext>
            </a:extLst>
          </p:cNvPr>
          <p:cNvPicPr>
            <a:picLocks noChangeAspect="1"/>
          </p:cNvPicPr>
          <p:nvPr/>
        </p:nvPicPr>
        <p:blipFill>
          <a:blip r:embed="rId5"/>
          <a:stretch>
            <a:fillRect/>
          </a:stretch>
        </p:blipFill>
        <p:spPr>
          <a:xfrm>
            <a:off x="4082342" y="3460412"/>
            <a:ext cx="2112170" cy="683796"/>
          </a:xfrm>
          <a:prstGeom prst="rect">
            <a:avLst/>
          </a:prstGeom>
        </p:spPr>
      </p:pic>
      <p:sp>
        <p:nvSpPr>
          <p:cNvPr id="21" name="CuadroTexto 20">
            <a:extLst>
              <a:ext uri="{FF2B5EF4-FFF2-40B4-BE49-F238E27FC236}">
                <a16:creationId xmlns:a16="http://schemas.microsoft.com/office/drawing/2014/main" id="{8FBBC086-DB0D-8F5B-6F8E-2733F4A302CC}"/>
              </a:ext>
            </a:extLst>
          </p:cNvPr>
          <p:cNvSpPr txBox="1"/>
          <p:nvPr/>
        </p:nvSpPr>
        <p:spPr>
          <a:xfrm>
            <a:off x="6096000" y="3689358"/>
            <a:ext cx="6096000" cy="369332"/>
          </a:xfrm>
          <a:prstGeom prst="rect">
            <a:avLst/>
          </a:prstGeom>
          <a:noFill/>
        </p:spPr>
        <p:txBody>
          <a:bodyPr wrap="square">
            <a:spAutoFit/>
          </a:bodyPr>
          <a:lstStyle/>
          <a:p>
            <a:pPr>
              <a:buNone/>
            </a:pPr>
            <a:r>
              <a:rPr lang="es-BO" dirty="0"/>
              <a:t>Abre directamente Ubuntu (o la que indiques)</a:t>
            </a:r>
          </a:p>
        </p:txBody>
      </p:sp>
      <p:sp>
        <p:nvSpPr>
          <p:cNvPr id="25" name="CuadroTexto 24">
            <a:extLst>
              <a:ext uri="{FF2B5EF4-FFF2-40B4-BE49-F238E27FC236}">
                <a16:creationId xmlns:a16="http://schemas.microsoft.com/office/drawing/2014/main" id="{5499BF73-A57E-71AC-C246-83A6AE9730A6}"/>
              </a:ext>
            </a:extLst>
          </p:cNvPr>
          <p:cNvSpPr txBox="1"/>
          <p:nvPr/>
        </p:nvSpPr>
        <p:spPr>
          <a:xfrm>
            <a:off x="492125" y="4726056"/>
            <a:ext cx="6096000" cy="369332"/>
          </a:xfrm>
          <a:prstGeom prst="rect">
            <a:avLst/>
          </a:prstGeom>
          <a:noFill/>
        </p:spPr>
        <p:txBody>
          <a:bodyPr wrap="square">
            <a:spAutoFit/>
          </a:bodyPr>
          <a:lstStyle/>
          <a:p>
            <a:pPr>
              <a:buNone/>
            </a:pPr>
            <a:r>
              <a:rPr lang="es-BO" dirty="0"/>
              <a:t>4. Cambiar la distribución predeterminada</a:t>
            </a:r>
          </a:p>
        </p:txBody>
      </p:sp>
      <p:pic>
        <p:nvPicPr>
          <p:cNvPr id="27" name="Imagen 26">
            <a:extLst>
              <a:ext uri="{FF2B5EF4-FFF2-40B4-BE49-F238E27FC236}">
                <a16:creationId xmlns:a16="http://schemas.microsoft.com/office/drawing/2014/main" id="{E6FC311B-B3AB-FED1-34CB-0AB9D3DC27BF}"/>
              </a:ext>
            </a:extLst>
          </p:cNvPr>
          <p:cNvPicPr>
            <a:picLocks noChangeAspect="1"/>
          </p:cNvPicPr>
          <p:nvPr/>
        </p:nvPicPr>
        <p:blipFill>
          <a:blip r:embed="rId6"/>
          <a:stretch>
            <a:fillRect/>
          </a:stretch>
        </p:blipFill>
        <p:spPr>
          <a:xfrm>
            <a:off x="4559300" y="4797453"/>
            <a:ext cx="2146300" cy="362755"/>
          </a:xfrm>
          <a:prstGeom prst="rect">
            <a:avLst/>
          </a:prstGeom>
        </p:spPr>
      </p:pic>
      <p:sp>
        <p:nvSpPr>
          <p:cNvPr id="29" name="CuadroTexto 28">
            <a:extLst>
              <a:ext uri="{FF2B5EF4-FFF2-40B4-BE49-F238E27FC236}">
                <a16:creationId xmlns:a16="http://schemas.microsoft.com/office/drawing/2014/main" id="{F33B70E1-8D20-CFAD-0BC7-2EFE82A9A752}"/>
              </a:ext>
            </a:extLst>
          </p:cNvPr>
          <p:cNvSpPr txBox="1"/>
          <p:nvPr/>
        </p:nvSpPr>
        <p:spPr>
          <a:xfrm>
            <a:off x="6781887" y="4735199"/>
            <a:ext cx="6096000" cy="369332"/>
          </a:xfrm>
          <a:prstGeom prst="rect">
            <a:avLst/>
          </a:prstGeom>
          <a:noFill/>
        </p:spPr>
        <p:txBody>
          <a:bodyPr wrap="square">
            <a:spAutoFit/>
          </a:bodyPr>
          <a:lstStyle/>
          <a:p>
            <a:r>
              <a:rPr lang="es-ES" dirty="0"/>
              <a:t>Ahora Ubuntu será la que se abre con: wsl</a:t>
            </a:r>
            <a:endParaRPr lang="es-BO" dirty="0"/>
          </a:p>
        </p:txBody>
      </p:sp>
      <p:sp>
        <p:nvSpPr>
          <p:cNvPr id="31" name="CuadroTexto 30">
            <a:extLst>
              <a:ext uri="{FF2B5EF4-FFF2-40B4-BE49-F238E27FC236}">
                <a16:creationId xmlns:a16="http://schemas.microsoft.com/office/drawing/2014/main" id="{1CBCB6EB-B2F8-1A41-A157-8D571645C13B}"/>
              </a:ext>
            </a:extLst>
          </p:cNvPr>
          <p:cNvSpPr txBox="1"/>
          <p:nvPr/>
        </p:nvSpPr>
        <p:spPr>
          <a:xfrm>
            <a:off x="492125" y="5771897"/>
            <a:ext cx="6438900" cy="369332"/>
          </a:xfrm>
          <a:prstGeom prst="rect">
            <a:avLst/>
          </a:prstGeom>
          <a:noFill/>
        </p:spPr>
        <p:txBody>
          <a:bodyPr wrap="square">
            <a:spAutoFit/>
          </a:bodyPr>
          <a:lstStyle/>
          <a:p>
            <a:r>
              <a:rPr lang="es-ES" dirty="0"/>
              <a:t>5. Eliminar una distro en WSL</a:t>
            </a:r>
            <a:endParaRPr lang="es-BO" dirty="0"/>
          </a:p>
        </p:txBody>
      </p:sp>
      <p:pic>
        <p:nvPicPr>
          <p:cNvPr id="35" name="Imagen 34">
            <a:extLst>
              <a:ext uri="{FF2B5EF4-FFF2-40B4-BE49-F238E27FC236}">
                <a16:creationId xmlns:a16="http://schemas.microsoft.com/office/drawing/2014/main" id="{11EFCF96-BC65-E113-DDC8-71A18074EF97}"/>
              </a:ext>
            </a:extLst>
          </p:cNvPr>
          <p:cNvPicPr>
            <a:picLocks noChangeAspect="1"/>
          </p:cNvPicPr>
          <p:nvPr/>
        </p:nvPicPr>
        <p:blipFill>
          <a:blip r:embed="rId7"/>
          <a:stretch>
            <a:fillRect/>
          </a:stretch>
        </p:blipFill>
        <p:spPr>
          <a:xfrm>
            <a:off x="3525097" y="5730670"/>
            <a:ext cx="2570903" cy="566917"/>
          </a:xfrm>
          <a:prstGeom prst="rect">
            <a:avLst/>
          </a:prstGeom>
        </p:spPr>
      </p:pic>
      <p:cxnSp>
        <p:nvCxnSpPr>
          <p:cNvPr id="37" name="Conector recto 36">
            <a:extLst>
              <a:ext uri="{FF2B5EF4-FFF2-40B4-BE49-F238E27FC236}">
                <a16:creationId xmlns:a16="http://schemas.microsoft.com/office/drawing/2014/main" id="{D3943AC0-C01E-EA0A-1F78-5390A26043A4}"/>
              </a:ext>
            </a:extLst>
          </p:cNvPr>
          <p:cNvCxnSpPr/>
          <p:nvPr/>
        </p:nvCxnSpPr>
        <p:spPr>
          <a:xfrm>
            <a:off x="355600" y="2095500"/>
            <a:ext cx="1092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1B5244E0-7204-0925-0C82-9D933148E1EE}"/>
              </a:ext>
            </a:extLst>
          </p:cNvPr>
          <p:cNvCxnSpPr/>
          <p:nvPr/>
        </p:nvCxnSpPr>
        <p:spPr>
          <a:xfrm>
            <a:off x="508000" y="3263900"/>
            <a:ext cx="1092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58F10920-FF72-E508-23BE-42C4D3BF4167}"/>
              </a:ext>
            </a:extLst>
          </p:cNvPr>
          <p:cNvCxnSpPr/>
          <p:nvPr/>
        </p:nvCxnSpPr>
        <p:spPr>
          <a:xfrm>
            <a:off x="508000" y="4445000"/>
            <a:ext cx="1092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F6FC51A1-99E3-9918-DA3C-B49F6F08E773}"/>
              </a:ext>
            </a:extLst>
          </p:cNvPr>
          <p:cNvCxnSpPr/>
          <p:nvPr/>
        </p:nvCxnSpPr>
        <p:spPr>
          <a:xfrm>
            <a:off x="492125" y="5461000"/>
            <a:ext cx="10922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871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6938CB4-9298-3659-8245-565AF7838058}"/>
              </a:ext>
            </a:extLst>
          </p:cNvPr>
          <p:cNvSpPr txBox="1"/>
          <p:nvPr/>
        </p:nvSpPr>
        <p:spPr>
          <a:xfrm>
            <a:off x="508000" y="404336"/>
            <a:ext cx="11315700" cy="646331"/>
          </a:xfrm>
          <a:prstGeom prst="rect">
            <a:avLst/>
          </a:prstGeom>
          <a:noFill/>
        </p:spPr>
        <p:txBody>
          <a:bodyPr wrap="square">
            <a:spAutoFit/>
          </a:bodyPr>
          <a:lstStyle/>
          <a:p>
            <a:r>
              <a:rPr lang="es-ES" dirty="0"/>
              <a:t>Ahora que ya tenemos Linux dentro de Windows usando el </a:t>
            </a:r>
            <a:r>
              <a:rPr lang="es-ES" dirty="0" err="1"/>
              <a:t>kernel</a:t>
            </a:r>
            <a:r>
              <a:rPr lang="es-ES" dirty="0"/>
              <a:t> a través de WSL, esto nos permite instalar y utilizar Docker.</a:t>
            </a:r>
            <a:endParaRPr lang="es-BO" dirty="0"/>
          </a:p>
        </p:txBody>
      </p:sp>
      <p:sp>
        <p:nvSpPr>
          <p:cNvPr id="4" name="CuadroTexto 3">
            <a:extLst>
              <a:ext uri="{FF2B5EF4-FFF2-40B4-BE49-F238E27FC236}">
                <a16:creationId xmlns:a16="http://schemas.microsoft.com/office/drawing/2014/main" id="{97FCBE5C-5CF9-3E74-DFC2-6C12E234C69D}"/>
              </a:ext>
            </a:extLst>
          </p:cNvPr>
          <p:cNvSpPr txBox="1"/>
          <p:nvPr/>
        </p:nvSpPr>
        <p:spPr>
          <a:xfrm>
            <a:off x="2347533" y="1009162"/>
            <a:ext cx="6927409" cy="584775"/>
          </a:xfrm>
          <a:prstGeom prst="rect">
            <a:avLst/>
          </a:prstGeom>
          <a:noFill/>
        </p:spPr>
        <p:txBody>
          <a:bodyPr wrap="none" rtlCol="0">
            <a:spAutoFit/>
          </a:bodyPr>
          <a:lstStyle/>
          <a:p>
            <a:r>
              <a:rPr lang="es-ES" sz="3200" b="1" dirty="0"/>
              <a:t>PROCESO DE INSTALACIÓN DE DOCKER  </a:t>
            </a:r>
            <a:endParaRPr lang="es-BO" sz="3200" b="1" dirty="0"/>
          </a:p>
        </p:txBody>
      </p:sp>
      <p:pic>
        <p:nvPicPr>
          <p:cNvPr id="7" name="Imagen 6">
            <a:extLst>
              <a:ext uri="{FF2B5EF4-FFF2-40B4-BE49-F238E27FC236}">
                <a16:creationId xmlns:a16="http://schemas.microsoft.com/office/drawing/2014/main" id="{FAD62020-7FB9-4C0D-68B0-C92808410AA9}"/>
              </a:ext>
            </a:extLst>
          </p:cNvPr>
          <p:cNvPicPr>
            <a:picLocks noChangeAspect="1"/>
          </p:cNvPicPr>
          <p:nvPr/>
        </p:nvPicPr>
        <p:blipFill>
          <a:blip r:embed="rId2"/>
          <a:stretch>
            <a:fillRect/>
          </a:stretch>
        </p:blipFill>
        <p:spPr>
          <a:xfrm>
            <a:off x="9019650" y="831859"/>
            <a:ext cx="1012798" cy="748986"/>
          </a:xfrm>
          <a:prstGeom prst="rect">
            <a:avLst/>
          </a:prstGeom>
        </p:spPr>
      </p:pic>
      <p:sp>
        <p:nvSpPr>
          <p:cNvPr id="6" name="CuadroTexto 5">
            <a:extLst>
              <a:ext uri="{FF2B5EF4-FFF2-40B4-BE49-F238E27FC236}">
                <a16:creationId xmlns:a16="http://schemas.microsoft.com/office/drawing/2014/main" id="{927893B5-3048-FF89-7209-2DE839A01E7D}"/>
              </a:ext>
            </a:extLst>
          </p:cNvPr>
          <p:cNvSpPr txBox="1"/>
          <p:nvPr/>
        </p:nvSpPr>
        <p:spPr>
          <a:xfrm>
            <a:off x="508000" y="1694147"/>
            <a:ext cx="4661703" cy="1477328"/>
          </a:xfrm>
          <a:prstGeom prst="rect">
            <a:avLst/>
          </a:prstGeom>
          <a:noFill/>
        </p:spPr>
        <p:txBody>
          <a:bodyPr wrap="square">
            <a:spAutoFit/>
          </a:bodyPr>
          <a:lstStyle/>
          <a:p>
            <a:pPr>
              <a:buNone/>
            </a:pPr>
            <a:r>
              <a:rPr lang="es-ES" b="1" dirty="0"/>
              <a:t>1. Descargar Docker Desktop</a:t>
            </a:r>
          </a:p>
          <a:p>
            <a:pPr>
              <a:buFont typeface="Arial" panose="020B0604020202020204" pitchFamily="34" charset="0"/>
              <a:buChar char="•"/>
            </a:pPr>
            <a:r>
              <a:rPr lang="es-ES" dirty="0"/>
              <a:t>Ve a la página oficial:</a:t>
            </a:r>
            <a:br>
              <a:rPr lang="es-ES" dirty="0"/>
            </a:br>
            <a:r>
              <a:rPr lang="es-ES" dirty="0"/>
              <a:t>👉 </a:t>
            </a:r>
            <a:r>
              <a:rPr lang="es-ES" dirty="0">
                <a:hlinkClick r:id="rId3"/>
              </a:rPr>
              <a:t>https://www.docker.com/products/docker-desktop/</a:t>
            </a:r>
            <a:r>
              <a:rPr lang="es-ES" dirty="0"/>
              <a:t> </a:t>
            </a:r>
          </a:p>
          <a:p>
            <a:pPr>
              <a:buFont typeface="Arial" panose="020B0604020202020204" pitchFamily="34" charset="0"/>
              <a:buChar char="•"/>
            </a:pPr>
            <a:r>
              <a:rPr lang="es-ES" dirty="0"/>
              <a:t>Descarga la versión para </a:t>
            </a:r>
            <a:r>
              <a:rPr lang="es-ES" b="1" dirty="0"/>
              <a:t>Windows</a:t>
            </a:r>
            <a:endParaRPr lang="es-ES" dirty="0"/>
          </a:p>
        </p:txBody>
      </p:sp>
      <p:pic>
        <p:nvPicPr>
          <p:cNvPr id="9" name="Imagen 8">
            <a:extLst>
              <a:ext uri="{FF2B5EF4-FFF2-40B4-BE49-F238E27FC236}">
                <a16:creationId xmlns:a16="http://schemas.microsoft.com/office/drawing/2014/main" id="{011886D1-C978-DD51-4DD1-26F44D07A0D4}"/>
              </a:ext>
            </a:extLst>
          </p:cNvPr>
          <p:cNvPicPr>
            <a:picLocks noChangeAspect="1"/>
          </p:cNvPicPr>
          <p:nvPr/>
        </p:nvPicPr>
        <p:blipFill>
          <a:blip r:embed="rId4"/>
          <a:stretch>
            <a:fillRect/>
          </a:stretch>
        </p:blipFill>
        <p:spPr>
          <a:xfrm>
            <a:off x="463991" y="3512406"/>
            <a:ext cx="5728466" cy="2941257"/>
          </a:xfrm>
          <a:prstGeom prst="rect">
            <a:avLst/>
          </a:prstGeom>
        </p:spPr>
      </p:pic>
      <p:sp>
        <p:nvSpPr>
          <p:cNvPr id="10" name="Rectángulo 9">
            <a:extLst>
              <a:ext uri="{FF2B5EF4-FFF2-40B4-BE49-F238E27FC236}">
                <a16:creationId xmlns:a16="http://schemas.microsoft.com/office/drawing/2014/main" id="{709853FC-B722-8A64-1D69-312F2AB9DE21}"/>
              </a:ext>
            </a:extLst>
          </p:cNvPr>
          <p:cNvSpPr/>
          <p:nvPr/>
        </p:nvSpPr>
        <p:spPr>
          <a:xfrm>
            <a:off x="1782501" y="5355422"/>
            <a:ext cx="1388962" cy="2777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67580180-5EB1-4526-ABCA-8697F835659D}"/>
              </a:ext>
            </a:extLst>
          </p:cNvPr>
          <p:cNvSpPr txBox="1"/>
          <p:nvPr/>
        </p:nvSpPr>
        <p:spPr>
          <a:xfrm>
            <a:off x="6787100" y="2111023"/>
            <a:ext cx="5036600" cy="892552"/>
          </a:xfrm>
          <a:prstGeom prst="rect">
            <a:avLst/>
          </a:prstGeom>
          <a:noFill/>
        </p:spPr>
        <p:txBody>
          <a:bodyPr wrap="square">
            <a:spAutoFit/>
          </a:bodyPr>
          <a:lstStyle/>
          <a:p>
            <a:pPr>
              <a:buFont typeface="Arial" panose="020B0604020202020204" pitchFamily="34" charset="0"/>
              <a:buChar char="•"/>
            </a:pPr>
            <a:r>
              <a:rPr lang="es-ES" sz="1600" dirty="0"/>
              <a:t>Ejecutamos el instalador </a:t>
            </a:r>
            <a:r>
              <a:rPr lang="es-ES" sz="1600" dirty="0">
                <a:latin typeface="Courier New" panose="02070309020205020404" pitchFamily="49" charset="0"/>
              </a:rPr>
              <a:t>.exe con </a:t>
            </a:r>
            <a:r>
              <a:rPr lang="es-ES" dirty="0"/>
              <a:t>permisos de administrador </a:t>
            </a:r>
            <a:endParaRPr lang="es-ES" sz="1600" dirty="0"/>
          </a:p>
          <a:p>
            <a:pPr>
              <a:buFont typeface="Arial" panose="020B0604020202020204" pitchFamily="34" charset="0"/>
              <a:buChar char="•"/>
            </a:pPr>
            <a:r>
              <a:rPr lang="es-ES" sz="1600" dirty="0"/>
              <a:t>Marca la opción:</a:t>
            </a:r>
          </a:p>
        </p:txBody>
      </p:sp>
      <p:pic>
        <p:nvPicPr>
          <p:cNvPr id="12" name="Imagen 11">
            <a:extLst>
              <a:ext uri="{FF2B5EF4-FFF2-40B4-BE49-F238E27FC236}">
                <a16:creationId xmlns:a16="http://schemas.microsoft.com/office/drawing/2014/main" id="{8DBC2F1F-F5D2-BDD5-402C-8557A356F1B0}"/>
              </a:ext>
            </a:extLst>
          </p:cNvPr>
          <p:cNvPicPr>
            <a:picLocks noChangeAspect="1"/>
          </p:cNvPicPr>
          <p:nvPr/>
        </p:nvPicPr>
        <p:blipFill>
          <a:blip r:embed="rId5"/>
          <a:stretch>
            <a:fillRect/>
          </a:stretch>
        </p:blipFill>
        <p:spPr>
          <a:xfrm>
            <a:off x="6926800" y="3314945"/>
            <a:ext cx="4185700" cy="325301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005420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A90E72F7-84BF-26F5-803C-573C41FB173B}"/>
              </a:ext>
            </a:extLst>
          </p:cNvPr>
          <p:cNvPicPr>
            <a:picLocks noChangeAspect="1"/>
          </p:cNvPicPr>
          <p:nvPr/>
        </p:nvPicPr>
        <p:blipFill>
          <a:blip r:embed="rId2"/>
          <a:stretch>
            <a:fillRect/>
          </a:stretch>
        </p:blipFill>
        <p:spPr>
          <a:xfrm>
            <a:off x="939311" y="786710"/>
            <a:ext cx="10313377" cy="5908452"/>
          </a:xfrm>
          <a:prstGeom prst="rect">
            <a:avLst/>
          </a:prstGeom>
        </p:spPr>
      </p:pic>
      <p:sp>
        <p:nvSpPr>
          <p:cNvPr id="12" name="CuadroTexto 11">
            <a:extLst>
              <a:ext uri="{FF2B5EF4-FFF2-40B4-BE49-F238E27FC236}">
                <a16:creationId xmlns:a16="http://schemas.microsoft.com/office/drawing/2014/main" id="{6E48D1E7-2317-7712-290A-793720347CE0}"/>
              </a:ext>
            </a:extLst>
          </p:cNvPr>
          <p:cNvSpPr txBox="1"/>
          <p:nvPr/>
        </p:nvSpPr>
        <p:spPr>
          <a:xfrm>
            <a:off x="5411196" y="162838"/>
            <a:ext cx="1047082" cy="523220"/>
          </a:xfrm>
          <a:prstGeom prst="rect">
            <a:avLst/>
          </a:prstGeom>
          <a:noFill/>
        </p:spPr>
        <p:txBody>
          <a:bodyPr wrap="none" rtlCol="0">
            <a:spAutoFit/>
          </a:bodyPr>
          <a:lstStyle/>
          <a:p>
            <a:r>
              <a:rPr lang="es-ES" sz="2800" b="1" dirty="0"/>
              <a:t>INCIO</a:t>
            </a:r>
            <a:endParaRPr lang="es-BO" sz="2800" b="1" dirty="0"/>
          </a:p>
        </p:txBody>
      </p:sp>
    </p:spTree>
    <p:extLst>
      <p:ext uri="{BB962C8B-B14F-4D97-AF65-F5344CB8AC3E}">
        <p14:creationId xmlns:p14="http://schemas.microsoft.com/office/powerpoint/2010/main" val="1373142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EF428E8-E324-D9FF-F6C0-0A2E5E776C4B}"/>
              </a:ext>
            </a:extLst>
          </p:cNvPr>
          <p:cNvPicPr>
            <a:picLocks noChangeAspect="1"/>
          </p:cNvPicPr>
          <p:nvPr/>
        </p:nvPicPr>
        <p:blipFill>
          <a:blip r:embed="rId2"/>
          <a:stretch>
            <a:fillRect/>
          </a:stretch>
        </p:blipFill>
        <p:spPr>
          <a:xfrm>
            <a:off x="5530271" y="2347411"/>
            <a:ext cx="6357131" cy="2745290"/>
          </a:xfrm>
          <a:prstGeom prst="rect">
            <a:avLst/>
          </a:prstGeom>
        </p:spPr>
      </p:pic>
      <p:sp>
        <p:nvSpPr>
          <p:cNvPr id="7" name="CuadroTexto 6">
            <a:extLst>
              <a:ext uri="{FF2B5EF4-FFF2-40B4-BE49-F238E27FC236}">
                <a16:creationId xmlns:a16="http://schemas.microsoft.com/office/drawing/2014/main" id="{3EC53B0B-A0C5-0F86-5BB0-C1FEE5020A8B}"/>
              </a:ext>
            </a:extLst>
          </p:cNvPr>
          <p:cNvSpPr txBox="1"/>
          <p:nvPr/>
        </p:nvSpPr>
        <p:spPr>
          <a:xfrm>
            <a:off x="304598" y="705346"/>
            <a:ext cx="6096000" cy="400110"/>
          </a:xfrm>
          <a:prstGeom prst="rect">
            <a:avLst/>
          </a:prstGeom>
          <a:noFill/>
        </p:spPr>
        <p:txBody>
          <a:bodyPr wrap="square">
            <a:spAutoFit/>
          </a:bodyPr>
          <a:lstStyle/>
          <a:p>
            <a:r>
              <a:rPr lang="es-BO" sz="2000" b="1" dirty="0"/>
              <a:t>COMPONENTES BÁSICOS DE DOCKER </a:t>
            </a:r>
          </a:p>
        </p:txBody>
      </p:sp>
      <p:sp>
        <p:nvSpPr>
          <p:cNvPr id="11" name="CuadroTexto 10">
            <a:extLst>
              <a:ext uri="{FF2B5EF4-FFF2-40B4-BE49-F238E27FC236}">
                <a16:creationId xmlns:a16="http://schemas.microsoft.com/office/drawing/2014/main" id="{4B65D088-7685-FFB8-DB7A-D913D9186334}"/>
              </a:ext>
            </a:extLst>
          </p:cNvPr>
          <p:cNvSpPr txBox="1"/>
          <p:nvPr/>
        </p:nvSpPr>
        <p:spPr>
          <a:xfrm>
            <a:off x="304598" y="1074341"/>
            <a:ext cx="4899026" cy="5078313"/>
          </a:xfrm>
          <a:prstGeom prst="rect">
            <a:avLst/>
          </a:prstGeom>
          <a:noFill/>
        </p:spPr>
        <p:txBody>
          <a:bodyPr wrap="square">
            <a:spAutoFit/>
          </a:bodyPr>
          <a:lstStyle/>
          <a:p>
            <a:pPr algn="just"/>
            <a:endParaRPr lang="es-ES" dirty="0"/>
          </a:p>
          <a:p>
            <a:pPr algn="just"/>
            <a:r>
              <a:rPr lang="es-ES" dirty="0"/>
              <a:t>• </a:t>
            </a:r>
            <a:r>
              <a:rPr lang="es-ES" b="1" dirty="0" err="1"/>
              <a:t>Dockerfile</a:t>
            </a:r>
            <a:r>
              <a:rPr lang="es-ES" b="1" dirty="0"/>
              <a:t>: </a:t>
            </a:r>
            <a:r>
              <a:rPr lang="es-ES" dirty="0"/>
              <a:t>archivo de texto que contiene una secuencia de instrucciones para construir una imagen paso a paso (por ejemplo, instalar dependencias y copiar el código fuente).</a:t>
            </a:r>
          </a:p>
          <a:p>
            <a:pPr algn="just"/>
            <a:endParaRPr lang="es-ES" dirty="0"/>
          </a:p>
          <a:p>
            <a:pPr algn="just"/>
            <a:r>
              <a:rPr lang="es-ES" dirty="0"/>
              <a:t> • </a:t>
            </a:r>
            <a:r>
              <a:rPr lang="es-ES" b="1" dirty="0"/>
              <a:t>Imágenes de Docker: </a:t>
            </a:r>
            <a:r>
              <a:rPr lang="es-ES" dirty="0"/>
              <a:t>plantillas de solo lectura que definen el estado inicial de un contenedor; incluyen el sistema de archivos y las instrucciones para ejecutar la aplicación. </a:t>
            </a:r>
          </a:p>
          <a:p>
            <a:pPr algn="just"/>
            <a:endParaRPr lang="es-ES" dirty="0"/>
          </a:p>
          <a:p>
            <a:pPr algn="just"/>
            <a:r>
              <a:rPr lang="es-ES" dirty="0"/>
              <a:t>• </a:t>
            </a:r>
            <a:r>
              <a:rPr lang="es-ES" b="1" dirty="0"/>
              <a:t>Contenedores: </a:t>
            </a:r>
            <a:r>
              <a:rPr lang="es-ES" dirty="0"/>
              <a:t>instancias ejecutables de una imagen; pueden crearse, iniciarse, detenerse y eliminarse de forma rápida. Docker automatiza la construcción de imágenes y la ejecución de contenedores, facilitando la integración continua, los despliegues reproducibles y la colaboración entre equipos de desarrollo y operaciones </a:t>
            </a:r>
            <a:endParaRPr lang="es-BO" dirty="0"/>
          </a:p>
        </p:txBody>
      </p:sp>
    </p:spTree>
    <p:extLst>
      <p:ext uri="{BB962C8B-B14F-4D97-AF65-F5344CB8AC3E}">
        <p14:creationId xmlns:p14="http://schemas.microsoft.com/office/powerpoint/2010/main" val="2157538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AAD87C4-A468-DFC6-C235-CBBCA092FB7D}"/>
              </a:ext>
            </a:extLst>
          </p:cNvPr>
          <p:cNvSpPr txBox="1"/>
          <p:nvPr/>
        </p:nvSpPr>
        <p:spPr>
          <a:xfrm>
            <a:off x="442733" y="205367"/>
            <a:ext cx="10773136" cy="646331"/>
          </a:xfrm>
          <a:prstGeom prst="rect">
            <a:avLst/>
          </a:prstGeom>
          <a:noFill/>
        </p:spPr>
        <p:txBody>
          <a:bodyPr wrap="square">
            <a:spAutoFit/>
          </a:bodyPr>
          <a:lstStyle/>
          <a:p>
            <a:r>
              <a:rPr lang="es-BO" dirty="0"/>
              <a:t>En : </a:t>
            </a:r>
            <a:r>
              <a:rPr lang="es-BO" u="sng" dirty="0">
                <a:solidFill>
                  <a:schemeClr val="accent1">
                    <a:lumMod val="75000"/>
                  </a:schemeClr>
                </a:solidFill>
                <a:hlinkClick r:id="rId2"/>
              </a:rPr>
              <a:t>https://github.com/moby/moby</a:t>
            </a:r>
            <a:r>
              <a:rPr lang="es-BO" u="sng" dirty="0">
                <a:solidFill>
                  <a:schemeClr val="accent1">
                    <a:lumMod val="75000"/>
                  </a:schemeClr>
                </a:solidFill>
              </a:rPr>
              <a:t>  </a:t>
            </a:r>
            <a:r>
              <a:rPr lang="es-ES" dirty="0"/>
              <a:t> podemos ver el </a:t>
            </a:r>
            <a:r>
              <a:rPr lang="es-ES" b="1" dirty="0"/>
              <a:t>proyecto  “Moby”  </a:t>
            </a:r>
            <a:r>
              <a:rPr lang="es-ES" dirty="0"/>
              <a:t>que es la base de Docker, donde está el código del motor que crea y ejecuta contenedores.</a:t>
            </a:r>
            <a:endParaRPr lang="es-BO" dirty="0"/>
          </a:p>
        </p:txBody>
      </p:sp>
      <p:pic>
        <p:nvPicPr>
          <p:cNvPr id="12" name="Imagen 11">
            <a:extLst>
              <a:ext uri="{FF2B5EF4-FFF2-40B4-BE49-F238E27FC236}">
                <a16:creationId xmlns:a16="http://schemas.microsoft.com/office/drawing/2014/main" id="{6D19EB2D-D2EB-2E3A-C807-9C22218EF77E}"/>
              </a:ext>
            </a:extLst>
          </p:cNvPr>
          <p:cNvPicPr>
            <a:picLocks noChangeAspect="1"/>
          </p:cNvPicPr>
          <p:nvPr/>
        </p:nvPicPr>
        <p:blipFill>
          <a:blip r:embed="rId3"/>
          <a:srcRect r="13030"/>
          <a:stretch>
            <a:fillRect/>
          </a:stretch>
        </p:blipFill>
        <p:spPr>
          <a:xfrm>
            <a:off x="884621" y="1194876"/>
            <a:ext cx="10422758" cy="5457757"/>
          </a:xfrm>
          <a:prstGeom prst="rect">
            <a:avLst/>
          </a:prstGeom>
        </p:spPr>
      </p:pic>
    </p:spTree>
    <p:extLst>
      <p:ext uri="{BB962C8B-B14F-4D97-AF65-F5344CB8AC3E}">
        <p14:creationId xmlns:p14="http://schemas.microsoft.com/office/powerpoint/2010/main" val="2420770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CA7E36F-A7E9-BE3D-1322-8487A419B0A8}"/>
              </a:ext>
            </a:extLst>
          </p:cNvPr>
          <p:cNvPicPr>
            <a:picLocks noChangeAspect="1"/>
          </p:cNvPicPr>
          <p:nvPr/>
        </p:nvPicPr>
        <p:blipFill>
          <a:blip r:embed="rId2"/>
          <a:stretch>
            <a:fillRect/>
          </a:stretch>
        </p:blipFill>
        <p:spPr>
          <a:xfrm>
            <a:off x="463550" y="207652"/>
            <a:ext cx="7948376" cy="4364348"/>
          </a:xfrm>
          <a:prstGeom prst="rect">
            <a:avLst/>
          </a:prstGeom>
        </p:spPr>
      </p:pic>
      <p:sp>
        <p:nvSpPr>
          <p:cNvPr id="5" name="CuadroTexto 4">
            <a:extLst>
              <a:ext uri="{FF2B5EF4-FFF2-40B4-BE49-F238E27FC236}">
                <a16:creationId xmlns:a16="http://schemas.microsoft.com/office/drawing/2014/main" id="{225CB790-FE03-1337-B2C8-781CABCC2A6D}"/>
              </a:ext>
            </a:extLst>
          </p:cNvPr>
          <p:cNvSpPr txBox="1"/>
          <p:nvPr/>
        </p:nvSpPr>
        <p:spPr>
          <a:xfrm>
            <a:off x="463550" y="5080688"/>
            <a:ext cx="10998200" cy="1569660"/>
          </a:xfrm>
          <a:prstGeom prst="rect">
            <a:avLst/>
          </a:prstGeom>
          <a:noFill/>
        </p:spPr>
        <p:txBody>
          <a:bodyPr wrap="square">
            <a:spAutoFit/>
          </a:bodyPr>
          <a:lstStyle/>
          <a:p>
            <a:pPr algn="just"/>
            <a:r>
              <a:rPr lang="es-ES" sz="1600" dirty="0"/>
              <a:t>Docker Hub es el registro oficial y la "nube" donde se almacenan y comparten imágenes de contenedores, funcionando esencialmente como una biblioteca o tienda de aplicaciones (tipo App Store) para desarrolladores de sistemas. Su utilidad principal radica en permitirte buscar, descargar y desplegar imágenes preconfiguradas y oficiales de software —como servidores web, bases de datos o entornos de programación—, lo que elimina la necesidad de configurar todo desde cero, facilita la estandarización de tus proyectos y garantiza que, al usar versiones etiquetadas (tags), tu aplicación funcione exactamente igual en cualquier máquina donde se ejecute.</a:t>
            </a:r>
            <a:endParaRPr lang="es-BO" sz="1600" dirty="0"/>
          </a:p>
        </p:txBody>
      </p:sp>
    </p:spTree>
    <p:extLst>
      <p:ext uri="{BB962C8B-B14F-4D97-AF65-F5344CB8AC3E}">
        <p14:creationId xmlns:p14="http://schemas.microsoft.com/office/powerpoint/2010/main" val="3686007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5E828F1-C399-2AD9-0F87-971238300391}"/>
              </a:ext>
            </a:extLst>
          </p:cNvPr>
          <p:cNvSpPr txBox="1"/>
          <p:nvPr/>
        </p:nvSpPr>
        <p:spPr>
          <a:xfrm>
            <a:off x="4352093" y="171270"/>
            <a:ext cx="3487814" cy="461665"/>
          </a:xfrm>
          <a:prstGeom prst="rect">
            <a:avLst/>
          </a:prstGeom>
          <a:noFill/>
        </p:spPr>
        <p:txBody>
          <a:bodyPr wrap="none" rtlCol="0">
            <a:spAutoFit/>
          </a:bodyPr>
          <a:lstStyle/>
          <a:p>
            <a:r>
              <a:rPr lang="es-ES" sz="2400" b="1" dirty="0"/>
              <a:t>MI PRIMER CONTENEDOR</a:t>
            </a:r>
            <a:endParaRPr lang="es-BO" sz="2400" b="1" dirty="0"/>
          </a:p>
        </p:txBody>
      </p:sp>
      <p:pic>
        <p:nvPicPr>
          <p:cNvPr id="9" name="Imagen 8">
            <a:extLst>
              <a:ext uri="{FF2B5EF4-FFF2-40B4-BE49-F238E27FC236}">
                <a16:creationId xmlns:a16="http://schemas.microsoft.com/office/drawing/2014/main" id="{546B54D6-161C-5CC6-152D-46C7739993D7}"/>
              </a:ext>
            </a:extLst>
          </p:cNvPr>
          <p:cNvPicPr>
            <a:picLocks noChangeAspect="1"/>
          </p:cNvPicPr>
          <p:nvPr/>
        </p:nvPicPr>
        <p:blipFill>
          <a:blip r:embed="rId2"/>
          <a:stretch>
            <a:fillRect/>
          </a:stretch>
        </p:blipFill>
        <p:spPr>
          <a:xfrm>
            <a:off x="434181" y="881151"/>
            <a:ext cx="3252099" cy="5670119"/>
          </a:xfrm>
          <a:prstGeom prst="rect">
            <a:avLst/>
          </a:prstGeom>
        </p:spPr>
      </p:pic>
      <p:pic>
        <p:nvPicPr>
          <p:cNvPr id="14" name="Imagen 13">
            <a:extLst>
              <a:ext uri="{FF2B5EF4-FFF2-40B4-BE49-F238E27FC236}">
                <a16:creationId xmlns:a16="http://schemas.microsoft.com/office/drawing/2014/main" id="{AF0A3CAB-C689-937D-6660-760FFFF73BBD}"/>
              </a:ext>
            </a:extLst>
          </p:cNvPr>
          <p:cNvPicPr>
            <a:picLocks noChangeAspect="1"/>
          </p:cNvPicPr>
          <p:nvPr/>
        </p:nvPicPr>
        <p:blipFill>
          <a:blip r:embed="rId3"/>
          <a:stretch>
            <a:fillRect/>
          </a:stretch>
        </p:blipFill>
        <p:spPr>
          <a:xfrm>
            <a:off x="4184730" y="881151"/>
            <a:ext cx="7086600" cy="5686425"/>
          </a:xfrm>
          <a:prstGeom prst="rect">
            <a:avLst/>
          </a:prstGeom>
        </p:spPr>
      </p:pic>
    </p:spTree>
    <p:extLst>
      <p:ext uri="{BB962C8B-B14F-4D97-AF65-F5344CB8AC3E}">
        <p14:creationId xmlns:p14="http://schemas.microsoft.com/office/powerpoint/2010/main" val="1400976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024F9C6-EE1E-35DC-85E3-6C5EEC7F759B}"/>
              </a:ext>
            </a:extLst>
          </p:cNvPr>
          <p:cNvPicPr>
            <a:picLocks noChangeAspect="1"/>
          </p:cNvPicPr>
          <p:nvPr/>
        </p:nvPicPr>
        <p:blipFill>
          <a:blip r:embed="rId2"/>
          <a:stretch>
            <a:fillRect/>
          </a:stretch>
        </p:blipFill>
        <p:spPr>
          <a:xfrm>
            <a:off x="2335253" y="2883571"/>
            <a:ext cx="7179137" cy="3615542"/>
          </a:xfrm>
          <a:prstGeom prst="rect">
            <a:avLst/>
          </a:prstGeom>
        </p:spPr>
      </p:pic>
      <p:pic>
        <p:nvPicPr>
          <p:cNvPr id="8" name="Imagen 7">
            <a:extLst>
              <a:ext uri="{FF2B5EF4-FFF2-40B4-BE49-F238E27FC236}">
                <a16:creationId xmlns:a16="http://schemas.microsoft.com/office/drawing/2014/main" id="{4AB53721-8144-2753-A405-CAC5F20BBF95}"/>
              </a:ext>
            </a:extLst>
          </p:cNvPr>
          <p:cNvPicPr>
            <a:picLocks noChangeAspect="1"/>
          </p:cNvPicPr>
          <p:nvPr/>
        </p:nvPicPr>
        <p:blipFill>
          <a:blip r:embed="rId3"/>
          <a:stretch>
            <a:fillRect/>
          </a:stretch>
        </p:blipFill>
        <p:spPr>
          <a:xfrm>
            <a:off x="2775091" y="219991"/>
            <a:ext cx="6368909" cy="2437083"/>
          </a:xfrm>
          <a:prstGeom prst="rect">
            <a:avLst/>
          </a:prstGeom>
        </p:spPr>
      </p:pic>
    </p:spTree>
    <p:extLst>
      <p:ext uri="{BB962C8B-B14F-4D97-AF65-F5344CB8AC3E}">
        <p14:creationId xmlns:p14="http://schemas.microsoft.com/office/powerpoint/2010/main" val="3505788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0698AA5-5CE7-077C-9FA2-546ADF985DDA}"/>
              </a:ext>
            </a:extLst>
          </p:cNvPr>
          <p:cNvPicPr>
            <a:picLocks noChangeAspect="1"/>
          </p:cNvPicPr>
          <p:nvPr/>
        </p:nvPicPr>
        <p:blipFill>
          <a:blip r:embed="rId2"/>
          <a:stretch>
            <a:fillRect/>
          </a:stretch>
        </p:blipFill>
        <p:spPr>
          <a:xfrm>
            <a:off x="491079" y="1513146"/>
            <a:ext cx="2390265" cy="2578263"/>
          </a:xfrm>
          <a:prstGeom prst="rect">
            <a:avLst/>
          </a:prstGeom>
        </p:spPr>
      </p:pic>
      <p:pic>
        <p:nvPicPr>
          <p:cNvPr id="9" name="Imagen 8">
            <a:extLst>
              <a:ext uri="{FF2B5EF4-FFF2-40B4-BE49-F238E27FC236}">
                <a16:creationId xmlns:a16="http://schemas.microsoft.com/office/drawing/2014/main" id="{C7F7F004-2EA8-BD5C-AC05-544B5EFF5540}"/>
              </a:ext>
            </a:extLst>
          </p:cNvPr>
          <p:cNvPicPr>
            <a:picLocks noChangeAspect="1"/>
          </p:cNvPicPr>
          <p:nvPr/>
        </p:nvPicPr>
        <p:blipFill>
          <a:blip r:embed="rId3"/>
          <a:stretch>
            <a:fillRect/>
          </a:stretch>
        </p:blipFill>
        <p:spPr>
          <a:xfrm>
            <a:off x="3150605" y="961903"/>
            <a:ext cx="8867775" cy="4429125"/>
          </a:xfrm>
          <a:prstGeom prst="rect">
            <a:avLst/>
          </a:prstGeom>
        </p:spPr>
      </p:pic>
    </p:spTree>
    <p:extLst>
      <p:ext uri="{BB962C8B-B14F-4D97-AF65-F5344CB8AC3E}">
        <p14:creationId xmlns:p14="http://schemas.microsoft.com/office/powerpoint/2010/main" val="1830178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D7D54FD-32D4-8CB5-65A6-81C409862516}"/>
              </a:ext>
            </a:extLst>
          </p:cNvPr>
          <p:cNvPicPr>
            <a:picLocks noChangeAspect="1"/>
          </p:cNvPicPr>
          <p:nvPr/>
        </p:nvPicPr>
        <p:blipFill>
          <a:blip r:embed="rId2"/>
          <a:srcRect r="22488"/>
          <a:stretch>
            <a:fillRect/>
          </a:stretch>
        </p:blipFill>
        <p:spPr>
          <a:xfrm>
            <a:off x="2556098" y="3143654"/>
            <a:ext cx="6115473" cy="3246087"/>
          </a:xfrm>
          <a:prstGeom prst="rect">
            <a:avLst/>
          </a:prstGeom>
        </p:spPr>
      </p:pic>
      <p:pic>
        <p:nvPicPr>
          <p:cNvPr id="7" name="Imagen 6">
            <a:extLst>
              <a:ext uri="{FF2B5EF4-FFF2-40B4-BE49-F238E27FC236}">
                <a16:creationId xmlns:a16="http://schemas.microsoft.com/office/drawing/2014/main" id="{8F9CDEB4-DE12-E237-AEA1-35B0964223B3}"/>
              </a:ext>
            </a:extLst>
          </p:cNvPr>
          <p:cNvPicPr>
            <a:picLocks noChangeAspect="1"/>
          </p:cNvPicPr>
          <p:nvPr/>
        </p:nvPicPr>
        <p:blipFill>
          <a:blip r:embed="rId3"/>
          <a:stretch>
            <a:fillRect/>
          </a:stretch>
        </p:blipFill>
        <p:spPr>
          <a:xfrm>
            <a:off x="2663875" y="660765"/>
            <a:ext cx="5513589" cy="1890373"/>
          </a:xfrm>
          <a:prstGeom prst="rect">
            <a:avLst/>
          </a:prstGeom>
        </p:spPr>
      </p:pic>
    </p:spTree>
    <p:extLst>
      <p:ext uri="{BB962C8B-B14F-4D97-AF65-F5344CB8AC3E}">
        <p14:creationId xmlns:p14="http://schemas.microsoft.com/office/powerpoint/2010/main" val="84698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A532831-932B-B8FF-00F4-0E274F0F02AD}"/>
              </a:ext>
            </a:extLst>
          </p:cNvPr>
          <p:cNvPicPr>
            <a:picLocks noChangeAspect="1"/>
          </p:cNvPicPr>
          <p:nvPr/>
        </p:nvPicPr>
        <p:blipFill>
          <a:blip r:embed="rId2"/>
          <a:stretch>
            <a:fillRect/>
          </a:stretch>
        </p:blipFill>
        <p:spPr>
          <a:xfrm>
            <a:off x="135479" y="198428"/>
            <a:ext cx="11739689" cy="6659572"/>
          </a:xfrm>
          <a:prstGeom prst="rect">
            <a:avLst/>
          </a:prstGeom>
        </p:spPr>
      </p:pic>
    </p:spTree>
    <p:extLst>
      <p:ext uri="{BB962C8B-B14F-4D97-AF65-F5344CB8AC3E}">
        <p14:creationId xmlns:p14="http://schemas.microsoft.com/office/powerpoint/2010/main" val="881682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4FC46E7-336B-BBFB-1DAE-9814D1CC964F}"/>
              </a:ext>
            </a:extLst>
          </p:cNvPr>
          <p:cNvPicPr>
            <a:picLocks noChangeAspect="1"/>
          </p:cNvPicPr>
          <p:nvPr/>
        </p:nvPicPr>
        <p:blipFill>
          <a:blip r:embed="rId2"/>
          <a:stretch>
            <a:fillRect/>
          </a:stretch>
        </p:blipFill>
        <p:spPr>
          <a:xfrm>
            <a:off x="1407061" y="2039101"/>
            <a:ext cx="9377878" cy="3270632"/>
          </a:xfrm>
          <a:prstGeom prst="rect">
            <a:avLst/>
          </a:prstGeom>
        </p:spPr>
      </p:pic>
    </p:spTree>
    <p:extLst>
      <p:ext uri="{BB962C8B-B14F-4D97-AF65-F5344CB8AC3E}">
        <p14:creationId xmlns:p14="http://schemas.microsoft.com/office/powerpoint/2010/main" val="2561125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942EA8B-EC46-22EA-2135-3A2DCB3B419F}"/>
              </a:ext>
            </a:extLst>
          </p:cNvPr>
          <p:cNvPicPr>
            <a:picLocks noChangeAspect="1"/>
          </p:cNvPicPr>
          <p:nvPr/>
        </p:nvPicPr>
        <p:blipFill>
          <a:blip r:embed="rId2"/>
          <a:stretch>
            <a:fillRect/>
          </a:stretch>
        </p:blipFill>
        <p:spPr>
          <a:xfrm>
            <a:off x="38100" y="767765"/>
            <a:ext cx="12153900" cy="5514975"/>
          </a:xfrm>
          <a:prstGeom prst="rect">
            <a:avLst/>
          </a:prstGeom>
        </p:spPr>
      </p:pic>
    </p:spTree>
    <p:extLst>
      <p:ext uri="{BB962C8B-B14F-4D97-AF65-F5344CB8AC3E}">
        <p14:creationId xmlns:p14="http://schemas.microsoft.com/office/powerpoint/2010/main" val="1554333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A83920A-D906-A8EE-9F92-E6F87EC0FA8D}"/>
              </a:ext>
            </a:extLst>
          </p:cNvPr>
          <p:cNvPicPr>
            <a:picLocks noChangeAspect="1"/>
          </p:cNvPicPr>
          <p:nvPr/>
        </p:nvPicPr>
        <p:blipFill>
          <a:blip r:embed="rId2"/>
          <a:stretch>
            <a:fillRect/>
          </a:stretch>
        </p:blipFill>
        <p:spPr>
          <a:xfrm>
            <a:off x="595372" y="459551"/>
            <a:ext cx="10562869" cy="5594009"/>
          </a:xfrm>
          <a:prstGeom prst="rect">
            <a:avLst/>
          </a:prstGeom>
        </p:spPr>
      </p:pic>
    </p:spTree>
    <p:extLst>
      <p:ext uri="{BB962C8B-B14F-4D97-AF65-F5344CB8AC3E}">
        <p14:creationId xmlns:p14="http://schemas.microsoft.com/office/powerpoint/2010/main" val="3168810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DB9CE16-CF42-1BE8-0091-1BFF56F7A558}"/>
              </a:ext>
            </a:extLst>
          </p:cNvPr>
          <p:cNvPicPr>
            <a:picLocks noChangeAspect="1"/>
          </p:cNvPicPr>
          <p:nvPr/>
        </p:nvPicPr>
        <p:blipFill>
          <a:blip r:embed="rId2"/>
          <a:stretch>
            <a:fillRect/>
          </a:stretch>
        </p:blipFill>
        <p:spPr>
          <a:xfrm>
            <a:off x="478179" y="398737"/>
            <a:ext cx="11235642" cy="6324465"/>
          </a:xfrm>
          <a:prstGeom prst="rect">
            <a:avLst/>
          </a:prstGeom>
        </p:spPr>
      </p:pic>
    </p:spTree>
    <p:extLst>
      <p:ext uri="{BB962C8B-B14F-4D97-AF65-F5344CB8AC3E}">
        <p14:creationId xmlns:p14="http://schemas.microsoft.com/office/powerpoint/2010/main" val="261667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5ACCDC7-47B2-2F37-FDAD-D3D23B4FB0B5}"/>
              </a:ext>
            </a:extLst>
          </p:cNvPr>
          <p:cNvPicPr>
            <a:picLocks noChangeAspect="1"/>
          </p:cNvPicPr>
          <p:nvPr/>
        </p:nvPicPr>
        <p:blipFill>
          <a:blip r:embed="rId2"/>
          <a:stretch>
            <a:fillRect/>
          </a:stretch>
        </p:blipFill>
        <p:spPr>
          <a:xfrm>
            <a:off x="561975" y="1438275"/>
            <a:ext cx="11068050" cy="3981450"/>
          </a:xfrm>
          <a:prstGeom prst="rect">
            <a:avLst/>
          </a:prstGeom>
        </p:spPr>
      </p:pic>
      <p:pic>
        <p:nvPicPr>
          <p:cNvPr id="5" name="Imagen 4">
            <a:extLst>
              <a:ext uri="{FF2B5EF4-FFF2-40B4-BE49-F238E27FC236}">
                <a16:creationId xmlns:a16="http://schemas.microsoft.com/office/drawing/2014/main" id="{0E39C87D-4B98-92A0-0AF7-7F16E8807F31}"/>
              </a:ext>
            </a:extLst>
          </p:cNvPr>
          <p:cNvPicPr>
            <a:picLocks noChangeAspect="1"/>
          </p:cNvPicPr>
          <p:nvPr/>
        </p:nvPicPr>
        <p:blipFill>
          <a:blip r:embed="rId2"/>
          <a:stretch>
            <a:fillRect/>
          </a:stretch>
        </p:blipFill>
        <p:spPr>
          <a:xfrm>
            <a:off x="561975" y="1438275"/>
            <a:ext cx="11068050" cy="3981450"/>
          </a:xfrm>
          <a:prstGeom prst="rect">
            <a:avLst/>
          </a:prstGeom>
        </p:spPr>
      </p:pic>
    </p:spTree>
    <p:extLst>
      <p:ext uri="{BB962C8B-B14F-4D97-AF65-F5344CB8AC3E}">
        <p14:creationId xmlns:p14="http://schemas.microsoft.com/office/powerpoint/2010/main" val="2491021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8AB152D3-0E5F-CE03-CFE1-9AFA5A6CF0AC}"/>
              </a:ext>
            </a:extLst>
          </p:cNvPr>
          <p:cNvSpPr txBox="1"/>
          <p:nvPr/>
        </p:nvSpPr>
        <p:spPr>
          <a:xfrm>
            <a:off x="4203700" y="474990"/>
            <a:ext cx="6096000" cy="523220"/>
          </a:xfrm>
          <a:prstGeom prst="rect">
            <a:avLst/>
          </a:prstGeom>
          <a:noFill/>
        </p:spPr>
        <p:txBody>
          <a:bodyPr wrap="square">
            <a:spAutoFit/>
          </a:bodyPr>
          <a:lstStyle/>
          <a:p>
            <a:r>
              <a:rPr lang="es-BO" sz="2800" b="1" dirty="0"/>
              <a:t>PRUEBA : SERVIDOR WEB NGINX</a:t>
            </a:r>
          </a:p>
        </p:txBody>
      </p:sp>
      <p:sp>
        <p:nvSpPr>
          <p:cNvPr id="9" name="CuadroTexto 8">
            <a:extLst>
              <a:ext uri="{FF2B5EF4-FFF2-40B4-BE49-F238E27FC236}">
                <a16:creationId xmlns:a16="http://schemas.microsoft.com/office/drawing/2014/main" id="{BA7525D8-AE09-5CF3-A6FE-8907F7CE0D91}"/>
              </a:ext>
            </a:extLst>
          </p:cNvPr>
          <p:cNvSpPr txBox="1"/>
          <p:nvPr/>
        </p:nvSpPr>
        <p:spPr>
          <a:xfrm>
            <a:off x="609600" y="1183192"/>
            <a:ext cx="6151563" cy="1015663"/>
          </a:xfrm>
          <a:prstGeom prst="rect">
            <a:avLst/>
          </a:prstGeom>
          <a:noFill/>
        </p:spPr>
        <p:txBody>
          <a:bodyPr wrap="square">
            <a:spAutoFit/>
          </a:bodyPr>
          <a:lstStyle/>
          <a:p>
            <a:pPr>
              <a:buNone/>
            </a:pPr>
            <a:r>
              <a:rPr lang="es-ES" sz="2000" b="1" dirty="0"/>
              <a:t>Paso 1: Ejecutar tu primer contenedor</a:t>
            </a:r>
          </a:p>
          <a:p>
            <a:pPr>
              <a:buNone/>
            </a:pPr>
            <a:r>
              <a:rPr lang="es-ES" sz="2000" dirty="0"/>
              <a:t>Abre tu terminal (PowerShell, CMD, o la terminal de VS Code) y ejecuta el siguiente comando:</a:t>
            </a:r>
          </a:p>
        </p:txBody>
      </p:sp>
      <p:pic>
        <p:nvPicPr>
          <p:cNvPr id="11" name="Imagen 10">
            <a:extLst>
              <a:ext uri="{FF2B5EF4-FFF2-40B4-BE49-F238E27FC236}">
                <a16:creationId xmlns:a16="http://schemas.microsoft.com/office/drawing/2014/main" id="{2CDE96BB-6B63-2C83-40DD-C2F793B23CEF}"/>
              </a:ext>
            </a:extLst>
          </p:cNvPr>
          <p:cNvPicPr>
            <a:picLocks noChangeAspect="1"/>
          </p:cNvPicPr>
          <p:nvPr/>
        </p:nvPicPr>
        <p:blipFill>
          <a:blip r:embed="rId2"/>
          <a:stretch>
            <a:fillRect/>
          </a:stretch>
        </p:blipFill>
        <p:spPr>
          <a:xfrm>
            <a:off x="4745831" y="1938131"/>
            <a:ext cx="5011738" cy="610349"/>
          </a:xfrm>
          <a:prstGeom prst="rect">
            <a:avLst/>
          </a:prstGeom>
        </p:spPr>
      </p:pic>
      <p:pic>
        <p:nvPicPr>
          <p:cNvPr id="13" name="Imagen 12">
            <a:extLst>
              <a:ext uri="{FF2B5EF4-FFF2-40B4-BE49-F238E27FC236}">
                <a16:creationId xmlns:a16="http://schemas.microsoft.com/office/drawing/2014/main" id="{BBC796C0-3AD2-B653-47CD-ED290EE70C0B}"/>
              </a:ext>
            </a:extLst>
          </p:cNvPr>
          <p:cNvPicPr>
            <a:picLocks noChangeAspect="1"/>
          </p:cNvPicPr>
          <p:nvPr/>
        </p:nvPicPr>
        <p:blipFill>
          <a:blip r:embed="rId3"/>
          <a:stretch>
            <a:fillRect/>
          </a:stretch>
        </p:blipFill>
        <p:spPr>
          <a:xfrm>
            <a:off x="809397" y="2582862"/>
            <a:ext cx="9604603" cy="3538538"/>
          </a:xfrm>
          <a:prstGeom prst="rect">
            <a:avLst/>
          </a:prstGeom>
        </p:spPr>
      </p:pic>
      <p:sp>
        <p:nvSpPr>
          <p:cNvPr id="15" name="Rectángulo 14">
            <a:extLst>
              <a:ext uri="{FF2B5EF4-FFF2-40B4-BE49-F238E27FC236}">
                <a16:creationId xmlns:a16="http://schemas.microsoft.com/office/drawing/2014/main" id="{0F6B7F52-6061-123E-0BDE-2CE05662815D}"/>
              </a:ext>
            </a:extLst>
          </p:cNvPr>
          <p:cNvSpPr/>
          <p:nvPr/>
        </p:nvSpPr>
        <p:spPr>
          <a:xfrm>
            <a:off x="8890000" y="5626100"/>
            <a:ext cx="1409700" cy="406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3039905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1BF03B3-833A-DA3D-91F4-566B08D8FF7E}"/>
              </a:ext>
            </a:extLst>
          </p:cNvPr>
          <p:cNvPicPr>
            <a:picLocks noChangeAspect="1"/>
          </p:cNvPicPr>
          <p:nvPr/>
        </p:nvPicPr>
        <p:blipFill>
          <a:blip r:embed="rId2"/>
          <a:stretch>
            <a:fillRect/>
          </a:stretch>
        </p:blipFill>
        <p:spPr>
          <a:xfrm>
            <a:off x="4391382" y="3338747"/>
            <a:ext cx="7076718" cy="3190941"/>
          </a:xfrm>
          <a:prstGeom prst="rect">
            <a:avLst/>
          </a:prstGeom>
        </p:spPr>
      </p:pic>
      <p:sp>
        <p:nvSpPr>
          <p:cNvPr id="5" name="Rectangle 1">
            <a:extLst>
              <a:ext uri="{FF2B5EF4-FFF2-40B4-BE49-F238E27FC236}">
                <a16:creationId xmlns:a16="http://schemas.microsoft.com/office/drawing/2014/main" id="{CFE677FA-C501-7A48-2296-68069CCA5A33}"/>
              </a:ext>
            </a:extLst>
          </p:cNvPr>
          <p:cNvSpPr>
            <a:spLocks noChangeArrowheads="1"/>
          </p:cNvSpPr>
          <p:nvPr/>
        </p:nvSpPr>
        <p:spPr bwMode="auto">
          <a:xfrm>
            <a:off x="457200" y="3338747"/>
            <a:ext cx="3149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BO" altLang="es-BO" dirty="0"/>
              <a:t>En el navegador: Abrimos  </a:t>
            </a:r>
            <a:r>
              <a:rPr lang="es-BO" altLang="es-BO" dirty="0">
                <a:solidFill>
                  <a:srgbClr val="FF0000"/>
                </a:solidFill>
              </a:rPr>
              <a:t>http://localhost:8080</a:t>
            </a:r>
            <a:r>
              <a:rPr lang="es-BO" altLang="es-BO" dirty="0"/>
              <a:t>. Deberías ver una página que dice </a:t>
            </a:r>
          </a:p>
          <a:p>
            <a:pPr marL="0" marR="0" lvl="0" indent="0" algn="l" defTabSz="914400" rtl="0" eaLnBrk="0" fontAlgn="base" latinLnBrk="0" hangingPunct="0">
              <a:lnSpc>
                <a:spcPct val="100000"/>
              </a:lnSpc>
              <a:spcBef>
                <a:spcPct val="0"/>
              </a:spcBef>
              <a:spcAft>
                <a:spcPct val="0"/>
              </a:spcAft>
              <a:buClrTx/>
              <a:buSzTx/>
              <a:tabLst/>
            </a:pPr>
            <a:r>
              <a:rPr lang="es-BO" altLang="es-BO" dirty="0"/>
              <a:t>"Welcome </a:t>
            </a:r>
            <a:r>
              <a:rPr lang="es-BO" altLang="es-BO" dirty="0" err="1"/>
              <a:t>to</a:t>
            </a:r>
            <a:r>
              <a:rPr lang="es-BO" altLang="es-BO" dirty="0"/>
              <a:t> </a:t>
            </a:r>
            <a:r>
              <a:rPr lang="es-BO" altLang="es-BO" dirty="0" err="1"/>
              <a:t>nginx</a:t>
            </a:r>
            <a:r>
              <a:rPr lang="es-BO" altLang="es-BO" dirty="0"/>
              <a:t>!".</a:t>
            </a:r>
          </a:p>
          <a:p>
            <a:pPr marL="0" marR="0" lvl="0" indent="0" algn="l" defTabSz="914400" rtl="0" eaLnBrk="0" fontAlgn="base" latinLnBrk="0" hangingPunct="0">
              <a:lnSpc>
                <a:spcPct val="100000"/>
              </a:lnSpc>
              <a:spcBef>
                <a:spcPct val="0"/>
              </a:spcBef>
              <a:spcAft>
                <a:spcPct val="0"/>
              </a:spcAft>
              <a:buClrTx/>
              <a:buSzTx/>
              <a:buFontTx/>
              <a:buChar char="•"/>
              <a:tabLst/>
            </a:pPr>
            <a:endParaRPr lang="es-BO" altLang="es-BO" dirty="0"/>
          </a:p>
          <a:p>
            <a:pPr marL="0" marR="0" lvl="0" indent="0" algn="l" defTabSz="914400" rtl="0" eaLnBrk="0" fontAlgn="base" latinLnBrk="0" hangingPunct="0">
              <a:lnSpc>
                <a:spcPct val="100000"/>
              </a:lnSpc>
              <a:spcBef>
                <a:spcPct val="0"/>
              </a:spcBef>
              <a:spcAft>
                <a:spcPct val="0"/>
              </a:spcAft>
              <a:buClrTx/>
              <a:buSzTx/>
              <a:tabLst/>
            </a:pPr>
            <a:endParaRPr lang="es-BO" altLang="es-BO" b="1" dirty="0"/>
          </a:p>
        </p:txBody>
      </p:sp>
      <p:pic>
        <p:nvPicPr>
          <p:cNvPr id="14" name="Imagen 13">
            <a:extLst>
              <a:ext uri="{FF2B5EF4-FFF2-40B4-BE49-F238E27FC236}">
                <a16:creationId xmlns:a16="http://schemas.microsoft.com/office/drawing/2014/main" id="{C2FFECE1-8221-C172-0684-51DD976EA241}"/>
              </a:ext>
            </a:extLst>
          </p:cNvPr>
          <p:cNvPicPr>
            <a:picLocks noChangeAspect="1"/>
          </p:cNvPicPr>
          <p:nvPr/>
        </p:nvPicPr>
        <p:blipFill>
          <a:blip r:embed="rId3"/>
          <a:srcRect b="307"/>
          <a:stretch>
            <a:fillRect/>
          </a:stretch>
        </p:blipFill>
        <p:spPr>
          <a:xfrm>
            <a:off x="4252378" y="480713"/>
            <a:ext cx="7354725" cy="2630788"/>
          </a:xfrm>
          <a:prstGeom prst="rect">
            <a:avLst/>
          </a:prstGeom>
        </p:spPr>
      </p:pic>
    </p:spTree>
    <p:extLst>
      <p:ext uri="{BB962C8B-B14F-4D97-AF65-F5344CB8AC3E}">
        <p14:creationId xmlns:p14="http://schemas.microsoft.com/office/powerpoint/2010/main" val="1520038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67313E5-52B9-98CB-8865-B5C18B9D2AFE}"/>
              </a:ext>
            </a:extLst>
          </p:cNvPr>
          <p:cNvPicPr>
            <a:picLocks noChangeAspect="1"/>
          </p:cNvPicPr>
          <p:nvPr/>
        </p:nvPicPr>
        <p:blipFill>
          <a:blip r:embed="rId2"/>
          <a:stretch>
            <a:fillRect/>
          </a:stretch>
        </p:blipFill>
        <p:spPr>
          <a:xfrm>
            <a:off x="1771650" y="1604018"/>
            <a:ext cx="8216900" cy="4724558"/>
          </a:xfrm>
          <a:prstGeom prst="rect">
            <a:avLst/>
          </a:prstGeom>
        </p:spPr>
      </p:pic>
      <p:sp>
        <p:nvSpPr>
          <p:cNvPr id="3" name="CuadroTexto 2">
            <a:extLst>
              <a:ext uri="{FF2B5EF4-FFF2-40B4-BE49-F238E27FC236}">
                <a16:creationId xmlns:a16="http://schemas.microsoft.com/office/drawing/2014/main" id="{269AA9B8-68FE-63FC-EADF-DD125C82BB6F}"/>
              </a:ext>
            </a:extLst>
          </p:cNvPr>
          <p:cNvSpPr txBox="1"/>
          <p:nvPr/>
        </p:nvSpPr>
        <p:spPr>
          <a:xfrm>
            <a:off x="457200" y="657136"/>
            <a:ext cx="106553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s-BO" altLang="es-BO" dirty="0"/>
              <a:t>Ahora regresamos a </a:t>
            </a:r>
            <a:r>
              <a:rPr lang="es-BO" altLang="es-BO" dirty="0" err="1"/>
              <a:t>docker</a:t>
            </a:r>
            <a:r>
              <a:rPr lang="es-BO" altLang="es-BO" dirty="0"/>
              <a:t> desktop. Veremos que la lista ya no está vacía: aparecerá mi-servidor-web con un punto verde indicando que está en ejecución.</a:t>
            </a:r>
          </a:p>
        </p:txBody>
      </p:sp>
    </p:spTree>
    <p:extLst>
      <p:ext uri="{BB962C8B-B14F-4D97-AF65-F5344CB8AC3E}">
        <p14:creationId xmlns:p14="http://schemas.microsoft.com/office/powerpoint/2010/main" val="4086966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16F1C92-B7AF-8D34-C6DC-6F9315755D71}"/>
              </a:ext>
            </a:extLst>
          </p:cNvPr>
          <p:cNvPicPr>
            <a:picLocks noChangeAspect="1"/>
          </p:cNvPicPr>
          <p:nvPr/>
        </p:nvPicPr>
        <p:blipFill>
          <a:blip r:embed="rId2"/>
          <a:stretch>
            <a:fillRect/>
          </a:stretch>
        </p:blipFill>
        <p:spPr>
          <a:xfrm>
            <a:off x="1097906" y="454920"/>
            <a:ext cx="10395755" cy="5656514"/>
          </a:xfrm>
          <a:prstGeom prst="rect">
            <a:avLst/>
          </a:prstGeom>
        </p:spPr>
      </p:pic>
    </p:spTree>
    <p:extLst>
      <p:ext uri="{BB962C8B-B14F-4D97-AF65-F5344CB8AC3E}">
        <p14:creationId xmlns:p14="http://schemas.microsoft.com/office/powerpoint/2010/main" val="2839481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B7F0AE4-A0D0-941E-864C-2DD59C3D0EB8}"/>
              </a:ext>
            </a:extLst>
          </p:cNvPr>
          <p:cNvPicPr>
            <a:picLocks noChangeAspect="1"/>
          </p:cNvPicPr>
          <p:nvPr/>
        </p:nvPicPr>
        <p:blipFill>
          <a:blip r:embed="rId2"/>
          <a:stretch>
            <a:fillRect/>
          </a:stretch>
        </p:blipFill>
        <p:spPr>
          <a:xfrm>
            <a:off x="4458124" y="1468174"/>
            <a:ext cx="7409785" cy="4438349"/>
          </a:xfrm>
          <a:prstGeom prst="rect">
            <a:avLst/>
          </a:prstGeom>
        </p:spPr>
      </p:pic>
      <p:pic>
        <p:nvPicPr>
          <p:cNvPr id="5" name="Imagen 4">
            <a:extLst>
              <a:ext uri="{FF2B5EF4-FFF2-40B4-BE49-F238E27FC236}">
                <a16:creationId xmlns:a16="http://schemas.microsoft.com/office/drawing/2014/main" id="{69C9BA3E-685F-9D15-CC3E-4C13DBE49709}"/>
              </a:ext>
            </a:extLst>
          </p:cNvPr>
          <p:cNvPicPr>
            <a:picLocks noChangeAspect="1"/>
          </p:cNvPicPr>
          <p:nvPr/>
        </p:nvPicPr>
        <p:blipFill>
          <a:blip r:embed="rId3"/>
          <a:stretch>
            <a:fillRect/>
          </a:stretch>
        </p:blipFill>
        <p:spPr>
          <a:xfrm>
            <a:off x="9408985" y="1468174"/>
            <a:ext cx="2458924" cy="851337"/>
          </a:xfrm>
          <a:prstGeom prst="rect">
            <a:avLst/>
          </a:prstGeom>
        </p:spPr>
      </p:pic>
      <p:sp>
        <p:nvSpPr>
          <p:cNvPr id="7" name="CuadroTexto 6">
            <a:extLst>
              <a:ext uri="{FF2B5EF4-FFF2-40B4-BE49-F238E27FC236}">
                <a16:creationId xmlns:a16="http://schemas.microsoft.com/office/drawing/2014/main" id="{00AE8465-5FA2-E5DB-036B-A1E449AA7F89}"/>
              </a:ext>
            </a:extLst>
          </p:cNvPr>
          <p:cNvSpPr txBox="1"/>
          <p:nvPr/>
        </p:nvSpPr>
        <p:spPr>
          <a:xfrm>
            <a:off x="324091" y="1405055"/>
            <a:ext cx="3877519" cy="4616648"/>
          </a:xfrm>
          <a:prstGeom prst="rect">
            <a:avLst/>
          </a:prstGeom>
          <a:noFill/>
        </p:spPr>
        <p:txBody>
          <a:bodyPr wrap="square">
            <a:spAutoFit/>
          </a:bodyPr>
          <a:lstStyle/>
          <a:p>
            <a:pPr algn="just"/>
            <a:r>
              <a:rPr lang="es-ES" sz="1400" dirty="0"/>
              <a:t>Debemos entender que una aplicación moderna no es una sola pieza, sino un conjunto de servicios que trabajan juntos; por ejemplo, una aplicación de comercio electrónico puede tener un servicio para usuarios, otro para productos, otro para pagos y otro para pedidos. Cada uno de estos servicios puede ejecutarse en su propio contenedor, lo que facilita su desarrollo, mantenimiento y escalabilidad. Sin embargo, cuando se tienen muchos contenedores funcionando al mismo tiempo, surge la necesidad de gestionarlos de manera eficiente. Aquí es donde entra la orquestación de contenedores, utilizando herramientas como </a:t>
            </a:r>
            <a:r>
              <a:rPr lang="es-ES" sz="1400" dirty="0" err="1"/>
              <a:t>Kubernetes</a:t>
            </a:r>
            <a:r>
              <a:rPr lang="es-ES" sz="1400" dirty="0"/>
              <a:t>, que permite organizar, coordinar y automatizar el funcionamiento de todos estos servicios, asegurando que la aplicación funcione correctamente como un todo. La orquestación de contenedores es el proceso automatizado de despliegue, escalado, monitoreo y recuperación de contenedores en un entorno distribuido. </a:t>
            </a:r>
            <a:endParaRPr lang="es-BO" sz="1400" dirty="0"/>
          </a:p>
        </p:txBody>
      </p:sp>
    </p:spTree>
    <p:extLst>
      <p:ext uri="{BB962C8B-B14F-4D97-AF65-F5344CB8AC3E}">
        <p14:creationId xmlns:p14="http://schemas.microsoft.com/office/powerpoint/2010/main" val="21715352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19871A5-FBD5-368A-1BA9-007419589F48}"/>
              </a:ext>
            </a:extLst>
          </p:cNvPr>
          <p:cNvSpPr txBox="1"/>
          <p:nvPr/>
        </p:nvSpPr>
        <p:spPr>
          <a:xfrm>
            <a:off x="4192930" y="213089"/>
            <a:ext cx="6094070" cy="769441"/>
          </a:xfrm>
          <a:prstGeom prst="rect">
            <a:avLst/>
          </a:prstGeom>
          <a:noFill/>
        </p:spPr>
        <p:txBody>
          <a:bodyPr wrap="square">
            <a:spAutoFit/>
          </a:bodyPr>
          <a:lstStyle/>
          <a:p>
            <a:r>
              <a:rPr lang="es-BO" sz="4400" b="1" dirty="0"/>
              <a:t>KUBERNETES</a:t>
            </a:r>
          </a:p>
        </p:txBody>
      </p:sp>
      <p:pic>
        <p:nvPicPr>
          <p:cNvPr id="2050" name="Picture 2">
            <a:extLst>
              <a:ext uri="{FF2B5EF4-FFF2-40B4-BE49-F238E27FC236}">
                <a16:creationId xmlns:a16="http://schemas.microsoft.com/office/drawing/2014/main" id="{DAC8C2F4-C2B0-3DAE-FBB0-C83F780F7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646" y="1475772"/>
            <a:ext cx="4021299" cy="390645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FBA67613-D17A-8317-E70D-CE08DF399542}"/>
              </a:ext>
            </a:extLst>
          </p:cNvPr>
          <p:cNvSpPr txBox="1"/>
          <p:nvPr/>
        </p:nvSpPr>
        <p:spPr>
          <a:xfrm>
            <a:off x="5547168" y="1942759"/>
            <a:ext cx="5518230" cy="3693319"/>
          </a:xfrm>
          <a:prstGeom prst="rect">
            <a:avLst/>
          </a:prstGeom>
          <a:noFill/>
        </p:spPr>
        <p:txBody>
          <a:bodyPr wrap="square">
            <a:spAutoFit/>
          </a:bodyPr>
          <a:lstStyle/>
          <a:p>
            <a:pPr algn="just"/>
            <a:r>
              <a:rPr lang="es-ES"/>
              <a:t>Kubernetes</a:t>
            </a:r>
            <a:r>
              <a:rPr lang="es-ES" dirty="0"/>
              <a:t> es una herramienta que se </a:t>
            </a:r>
            <a:r>
              <a:rPr lang="es-ES"/>
              <a:t>utiliza para </a:t>
            </a:r>
            <a:r>
              <a:rPr lang="es-ES" dirty="0"/>
              <a:t>administrar y coordinar muchos contenedores (como los de Docker) </a:t>
            </a:r>
            <a:r>
              <a:rPr lang="es-ES"/>
              <a:t>de forma automática</a:t>
            </a:r>
            <a:r>
              <a:rPr lang="es-ES" dirty="0"/>
              <a:t>, especialmente cuando una aplicación es grande y está dividida en varios servicios; en lugar de ejecutar y controlar manualmente </a:t>
            </a:r>
            <a:r>
              <a:rPr lang="es-ES"/>
              <a:t>cada contenedor, Kubernetes</a:t>
            </a:r>
            <a:r>
              <a:rPr lang="es-ES" dirty="0"/>
              <a:t> se encarga de iniciarlos, reiniciarlos si fallan, distribuir la carga entre ellos y escalar la aplicación si hay más usuarios, todo a través de configuraciones que se definen en archivos, lo que lo hace muy usado en entornos de producción y empresas grandes donde se necesita que los sistemas funcionen de manera estable, automática y sin intervención constante del desarrollador.</a:t>
            </a:r>
            <a:endParaRPr lang="es-BO" dirty="0"/>
          </a:p>
        </p:txBody>
      </p:sp>
    </p:spTree>
    <p:extLst>
      <p:ext uri="{BB962C8B-B14F-4D97-AF65-F5344CB8AC3E}">
        <p14:creationId xmlns:p14="http://schemas.microsoft.com/office/powerpoint/2010/main" val="1465341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523D753-850B-A0D0-0EC9-3088E3ED4529}"/>
              </a:ext>
            </a:extLst>
          </p:cNvPr>
          <p:cNvPicPr>
            <a:picLocks noChangeAspect="1"/>
          </p:cNvPicPr>
          <p:nvPr/>
        </p:nvPicPr>
        <p:blipFill>
          <a:blip r:embed="rId2"/>
          <a:stretch>
            <a:fillRect/>
          </a:stretch>
        </p:blipFill>
        <p:spPr>
          <a:xfrm>
            <a:off x="1603726" y="582774"/>
            <a:ext cx="8984547" cy="4112926"/>
          </a:xfrm>
          <a:prstGeom prst="rect">
            <a:avLst/>
          </a:prstGeom>
        </p:spPr>
      </p:pic>
      <p:sp>
        <p:nvSpPr>
          <p:cNvPr id="5" name="CuadroTexto 4">
            <a:extLst>
              <a:ext uri="{FF2B5EF4-FFF2-40B4-BE49-F238E27FC236}">
                <a16:creationId xmlns:a16="http://schemas.microsoft.com/office/drawing/2014/main" id="{085B0385-2027-F962-F410-899E2957F5C3}"/>
              </a:ext>
            </a:extLst>
          </p:cNvPr>
          <p:cNvSpPr txBox="1"/>
          <p:nvPr/>
        </p:nvSpPr>
        <p:spPr>
          <a:xfrm>
            <a:off x="662651" y="4834942"/>
            <a:ext cx="11282422" cy="1200329"/>
          </a:xfrm>
          <a:prstGeom prst="rect">
            <a:avLst/>
          </a:prstGeom>
          <a:noFill/>
        </p:spPr>
        <p:txBody>
          <a:bodyPr wrap="square">
            <a:spAutoFit/>
          </a:bodyPr>
          <a:lstStyle/>
          <a:p>
            <a:r>
              <a:rPr lang="es-ES" dirty="0"/>
              <a:t>Un </a:t>
            </a:r>
            <a:r>
              <a:rPr lang="es-ES" b="1" dirty="0" err="1"/>
              <a:t>cluster</a:t>
            </a:r>
            <a:r>
              <a:rPr lang="es-ES" dirty="0"/>
              <a:t> es un conjunto de varias computadoras que trabajan juntas como si fueran una sola máquina para realizar tareas de forma más rápida, estable y eficiente; en lugar de depender de un solo equipo, el trabajo se reparte entre varios, lo que permite soportar más carga, mejorar el rendimiento y evitar que el sistema se detenga si una de las computadoras falla.</a:t>
            </a:r>
            <a:endParaRPr lang="es-BO" dirty="0"/>
          </a:p>
        </p:txBody>
      </p:sp>
    </p:spTree>
    <p:extLst>
      <p:ext uri="{BB962C8B-B14F-4D97-AF65-F5344CB8AC3E}">
        <p14:creationId xmlns:p14="http://schemas.microsoft.com/office/powerpoint/2010/main" val="3050003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4B923BC6-39A3-42DE-D5AC-2659069C10FD}"/>
              </a:ext>
            </a:extLst>
          </p:cNvPr>
          <p:cNvGraphicFramePr>
            <a:graphicFrameLocks noGrp="1"/>
          </p:cNvGraphicFramePr>
          <p:nvPr>
            <p:extLst>
              <p:ext uri="{D42A27DB-BD31-4B8C-83A1-F6EECF244321}">
                <p14:modId xmlns:p14="http://schemas.microsoft.com/office/powerpoint/2010/main" val="1539321095"/>
              </p:ext>
            </p:extLst>
          </p:nvPr>
        </p:nvGraphicFramePr>
        <p:xfrm>
          <a:off x="2013336" y="1065384"/>
          <a:ext cx="8165328" cy="5143732"/>
        </p:xfrm>
        <a:graphic>
          <a:graphicData uri="http://schemas.openxmlformats.org/drawingml/2006/table">
            <a:tbl>
              <a:tblPr>
                <a:tableStyleId>{16D9F66E-5EB9-4882-86FB-DCBF35E3C3E4}</a:tableStyleId>
              </a:tblPr>
              <a:tblGrid>
                <a:gridCol w="2721776">
                  <a:extLst>
                    <a:ext uri="{9D8B030D-6E8A-4147-A177-3AD203B41FA5}">
                      <a16:colId xmlns:a16="http://schemas.microsoft.com/office/drawing/2014/main" val="4043825221"/>
                    </a:ext>
                  </a:extLst>
                </a:gridCol>
                <a:gridCol w="2721776">
                  <a:extLst>
                    <a:ext uri="{9D8B030D-6E8A-4147-A177-3AD203B41FA5}">
                      <a16:colId xmlns:a16="http://schemas.microsoft.com/office/drawing/2014/main" val="3722887314"/>
                    </a:ext>
                  </a:extLst>
                </a:gridCol>
                <a:gridCol w="2721776">
                  <a:extLst>
                    <a:ext uri="{9D8B030D-6E8A-4147-A177-3AD203B41FA5}">
                      <a16:colId xmlns:a16="http://schemas.microsoft.com/office/drawing/2014/main" val="3571639931"/>
                    </a:ext>
                  </a:extLst>
                </a:gridCol>
              </a:tblGrid>
              <a:tr h="238429">
                <a:tc>
                  <a:txBody>
                    <a:bodyPr/>
                    <a:lstStyle/>
                    <a:p>
                      <a:pPr algn="ctr">
                        <a:buNone/>
                      </a:pPr>
                      <a:r>
                        <a:rPr lang="es-BO" sz="3200" b="1"/>
                        <a:t>Componente</a:t>
                      </a:r>
                    </a:p>
                  </a:txBody>
                  <a:tcPr marL="59607" marR="59607" marT="29804" marB="29804" anchor="ctr"/>
                </a:tc>
                <a:tc>
                  <a:txBody>
                    <a:bodyPr/>
                    <a:lstStyle/>
                    <a:p>
                      <a:pPr algn="ctr">
                        <a:buNone/>
                      </a:pPr>
                      <a:r>
                        <a:rPr lang="es-BO" sz="3200" b="1"/>
                        <a:t>Qué es</a:t>
                      </a:r>
                    </a:p>
                  </a:txBody>
                  <a:tcPr marL="59607" marR="59607" marT="29804" marB="29804" anchor="ctr"/>
                </a:tc>
                <a:tc>
                  <a:txBody>
                    <a:bodyPr/>
                    <a:lstStyle/>
                    <a:p>
                      <a:pPr algn="ctr">
                        <a:buNone/>
                      </a:pPr>
                      <a:r>
                        <a:rPr lang="es-BO" sz="3200" b="1" dirty="0"/>
                        <a:t>Función</a:t>
                      </a:r>
                    </a:p>
                  </a:txBody>
                  <a:tcPr marL="59607" marR="59607" marT="29804" marB="29804" anchor="ctr"/>
                </a:tc>
                <a:extLst>
                  <a:ext uri="{0D108BD9-81ED-4DB2-BD59-A6C34878D82A}">
                    <a16:rowId xmlns:a16="http://schemas.microsoft.com/office/drawing/2014/main" val="2196011446"/>
                  </a:ext>
                </a:extLst>
              </a:tr>
              <a:tr h="596074">
                <a:tc>
                  <a:txBody>
                    <a:bodyPr/>
                    <a:lstStyle/>
                    <a:p>
                      <a:pPr>
                        <a:buNone/>
                      </a:pPr>
                      <a:r>
                        <a:rPr lang="es-BO" sz="1400"/>
                        <a:t>Control Plane</a:t>
                      </a:r>
                    </a:p>
                  </a:txBody>
                  <a:tcPr marL="59607" marR="59607" marT="29804" marB="29804" anchor="ctr"/>
                </a:tc>
                <a:tc>
                  <a:txBody>
                    <a:bodyPr/>
                    <a:lstStyle/>
                    <a:p>
                      <a:pPr>
                        <a:buNone/>
                      </a:pPr>
                      <a:r>
                        <a:rPr lang="es-BO" sz="1400"/>
                        <a:t>Cerebro del cluster</a:t>
                      </a:r>
                    </a:p>
                  </a:txBody>
                  <a:tcPr marL="59607" marR="59607" marT="29804" marB="29804" anchor="ctr"/>
                </a:tc>
                <a:tc>
                  <a:txBody>
                    <a:bodyPr/>
                    <a:lstStyle/>
                    <a:p>
                      <a:pPr>
                        <a:buNone/>
                      </a:pPr>
                      <a:r>
                        <a:rPr lang="es-ES" sz="1400" dirty="0"/>
                        <a:t>Decide qué se ejecuta, dónde y cuándo. Administra todo el sistema.</a:t>
                      </a:r>
                    </a:p>
                  </a:txBody>
                  <a:tcPr marL="59607" marR="59607" marT="29804" marB="29804" anchor="ctr"/>
                </a:tc>
                <a:extLst>
                  <a:ext uri="{0D108BD9-81ED-4DB2-BD59-A6C34878D82A}">
                    <a16:rowId xmlns:a16="http://schemas.microsoft.com/office/drawing/2014/main" val="1855701869"/>
                  </a:ext>
                </a:extLst>
              </a:tr>
              <a:tr h="417252">
                <a:tc>
                  <a:txBody>
                    <a:bodyPr/>
                    <a:lstStyle/>
                    <a:p>
                      <a:pPr>
                        <a:buNone/>
                      </a:pPr>
                      <a:r>
                        <a:rPr lang="es-BO" sz="1400"/>
                        <a:t>API Server</a:t>
                      </a:r>
                    </a:p>
                  </a:txBody>
                  <a:tcPr marL="59607" marR="59607" marT="29804" marB="29804" anchor="ctr"/>
                </a:tc>
                <a:tc>
                  <a:txBody>
                    <a:bodyPr/>
                    <a:lstStyle/>
                    <a:p>
                      <a:pPr>
                        <a:buNone/>
                      </a:pPr>
                      <a:r>
                        <a:rPr lang="es-BO" sz="1400"/>
                        <a:t>Punto de entrada</a:t>
                      </a:r>
                    </a:p>
                  </a:txBody>
                  <a:tcPr marL="59607" marR="59607" marT="29804" marB="29804" anchor="ctr"/>
                </a:tc>
                <a:tc>
                  <a:txBody>
                    <a:bodyPr/>
                    <a:lstStyle/>
                    <a:p>
                      <a:pPr>
                        <a:buNone/>
                      </a:pPr>
                      <a:r>
                        <a:rPr lang="es-ES" sz="1400"/>
                        <a:t>Recibe las órdenes (kubectl, apps) y las envía al cluster.</a:t>
                      </a:r>
                    </a:p>
                  </a:txBody>
                  <a:tcPr marL="59607" marR="59607" marT="29804" marB="29804" anchor="ctr"/>
                </a:tc>
                <a:extLst>
                  <a:ext uri="{0D108BD9-81ED-4DB2-BD59-A6C34878D82A}">
                    <a16:rowId xmlns:a16="http://schemas.microsoft.com/office/drawing/2014/main" val="1979822394"/>
                  </a:ext>
                </a:extLst>
              </a:tr>
              <a:tr h="417252">
                <a:tc>
                  <a:txBody>
                    <a:bodyPr/>
                    <a:lstStyle/>
                    <a:p>
                      <a:pPr>
                        <a:buNone/>
                      </a:pPr>
                      <a:r>
                        <a:rPr lang="es-BO" sz="1400"/>
                        <a:t>Scheduler</a:t>
                      </a:r>
                    </a:p>
                  </a:txBody>
                  <a:tcPr marL="59607" marR="59607" marT="29804" marB="29804" anchor="ctr"/>
                </a:tc>
                <a:tc>
                  <a:txBody>
                    <a:bodyPr/>
                    <a:lstStyle/>
                    <a:p>
                      <a:pPr>
                        <a:buNone/>
                      </a:pPr>
                      <a:r>
                        <a:rPr lang="es-BO" sz="1400"/>
                        <a:t>Programador</a:t>
                      </a:r>
                    </a:p>
                  </a:txBody>
                  <a:tcPr marL="59607" marR="59607" marT="29804" marB="29804" anchor="ctr"/>
                </a:tc>
                <a:tc>
                  <a:txBody>
                    <a:bodyPr/>
                    <a:lstStyle/>
                    <a:p>
                      <a:pPr>
                        <a:buNone/>
                      </a:pPr>
                      <a:r>
                        <a:rPr lang="es-ES" sz="1400"/>
                        <a:t>Decide en qué máquina se ejecuta cada contenedor.</a:t>
                      </a:r>
                    </a:p>
                  </a:txBody>
                  <a:tcPr marL="59607" marR="59607" marT="29804" marB="29804" anchor="ctr"/>
                </a:tc>
                <a:extLst>
                  <a:ext uri="{0D108BD9-81ED-4DB2-BD59-A6C34878D82A}">
                    <a16:rowId xmlns:a16="http://schemas.microsoft.com/office/drawing/2014/main" val="3962757358"/>
                  </a:ext>
                </a:extLst>
              </a:tr>
              <a:tr h="417252">
                <a:tc>
                  <a:txBody>
                    <a:bodyPr/>
                    <a:lstStyle/>
                    <a:p>
                      <a:pPr>
                        <a:buNone/>
                      </a:pPr>
                      <a:r>
                        <a:rPr lang="es-BO" sz="1400"/>
                        <a:t>Controller Manager</a:t>
                      </a:r>
                    </a:p>
                  </a:txBody>
                  <a:tcPr marL="59607" marR="59607" marT="29804" marB="29804" anchor="ctr"/>
                </a:tc>
                <a:tc>
                  <a:txBody>
                    <a:bodyPr/>
                    <a:lstStyle/>
                    <a:p>
                      <a:pPr>
                        <a:buNone/>
                      </a:pPr>
                      <a:r>
                        <a:rPr lang="es-BO" sz="1400"/>
                        <a:t>Controlador</a:t>
                      </a:r>
                    </a:p>
                  </a:txBody>
                  <a:tcPr marL="59607" marR="59607" marT="29804" marB="29804" anchor="ctr"/>
                </a:tc>
                <a:tc>
                  <a:txBody>
                    <a:bodyPr/>
                    <a:lstStyle/>
                    <a:p>
                      <a:pPr>
                        <a:buNone/>
                      </a:pPr>
                      <a:r>
                        <a:rPr lang="es-BO" sz="1400"/>
                        <a:t>Vigila que todo esté funcionando como se definió (repara fallos).</a:t>
                      </a:r>
                    </a:p>
                  </a:txBody>
                  <a:tcPr marL="59607" marR="59607" marT="29804" marB="29804" anchor="ctr"/>
                </a:tc>
                <a:extLst>
                  <a:ext uri="{0D108BD9-81ED-4DB2-BD59-A6C34878D82A}">
                    <a16:rowId xmlns:a16="http://schemas.microsoft.com/office/drawing/2014/main" val="87913853"/>
                  </a:ext>
                </a:extLst>
              </a:tr>
              <a:tr h="417252">
                <a:tc>
                  <a:txBody>
                    <a:bodyPr/>
                    <a:lstStyle/>
                    <a:p>
                      <a:pPr>
                        <a:buNone/>
                      </a:pPr>
                      <a:r>
                        <a:rPr lang="es-BO" sz="1400"/>
                        <a:t>etcd</a:t>
                      </a:r>
                    </a:p>
                  </a:txBody>
                  <a:tcPr marL="59607" marR="59607" marT="29804" marB="29804" anchor="ctr"/>
                </a:tc>
                <a:tc>
                  <a:txBody>
                    <a:bodyPr/>
                    <a:lstStyle/>
                    <a:p>
                      <a:pPr>
                        <a:buNone/>
                      </a:pPr>
                      <a:r>
                        <a:rPr lang="es-BO" sz="1400"/>
                        <a:t>Base de datos interna</a:t>
                      </a:r>
                    </a:p>
                  </a:txBody>
                  <a:tcPr marL="59607" marR="59607" marT="29804" marB="29804" anchor="ctr"/>
                </a:tc>
                <a:tc>
                  <a:txBody>
                    <a:bodyPr/>
                    <a:lstStyle/>
                    <a:p>
                      <a:pPr>
                        <a:buNone/>
                      </a:pPr>
                      <a:r>
                        <a:rPr lang="es-ES" sz="1400"/>
                        <a:t>Guarda toda la información del cluster (estado, configuraciones).</a:t>
                      </a:r>
                    </a:p>
                  </a:txBody>
                  <a:tcPr marL="59607" marR="59607" marT="29804" marB="29804" anchor="ctr"/>
                </a:tc>
                <a:extLst>
                  <a:ext uri="{0D108BD9-81ED-4DB2-BD59-A6C34878D82A}">
                    <a16:rowId xmlns:a16="http://schemas.microsoft.com/office/drawing/2014/main" val="3488350620"/>
                  </a:ext>
                </a:extLst>
              </a:tr>
              <a:tr h="417252">
                <a:tc>
                  <a:txBody>
                    <a:bodyPr/>
                    <a:lstStyle/>
                    <a:p>
                      <a:pPr>
                        <a:buNone/>
                      </a:pPr>
                      <a:r>
                        <a:rPr lang="es-BO" sz="1400"/>
                        <a:t>Worker Node</a:t>
                      </a:r>
                    </a:p>
                  </a:txBody>
                  <a:tcPr marL="59607" marR="59607" marT="29804" marB="29804" anchor="ctr"/>
                </a:tc>
                <a:tc>
                  <a:txBody>
                    <a:bodyPr/>
                    <a:lstStyle/>
                    <a:p>
                      <a:pPr>
                        <a:buNone/>
                      </a:pPr>
                      <a:r>
                        <a:rPr lang="es-BO" sz="1400"/>
                        <a:t>Máquina de trabajo</a:t>
                      </a:r>
                    </a:p>
                  </a:txBody>
                  <a:tcPr marL="59607" marR="59607" marT="29804" marB="29804" anchor="ctr"/>
                </a:tc>
                <a:tc>
                  <a:txBody>
                    <a:bodyPr/>
                    <a:lstStyle/>
                    <a:p>
                      <a:pPr>
                        <a:buNone/>
                      </a:pPr>
                      <a:r>
                        <a:rPr lang="es-ES" sz="1400"/>
                        <a:t>Ejecuta los contenedores de las aplicaciones.</a:t>
                      </a:r>
                    </a:p>
                  </a:txBody>
                  <a:tcPr marL="59607" marR="59607" marT="29804" marB="29804" anchor="ctr"/>
                </a:tc>
                <a:extLst>
                  <a:ext uri="{0D108BD9-81ED-4DB2-BD59-A6C34878D82A}">
                    <a16:rowId xmlns:a16="http://schemas.microsoft.com/office/drawing/2014/main" val="3614787165"/>
                  </a:ext>
                </a:extLst>
              </a:tr>
              <a:tr h="596074">
                <a:tc>
                  <a:txBody>
                    <a:bodyPr/>
                    <a:lstStyle/>
                    <a:p>
                      <a:pPr>
                        <a:buNone/>
                      </a:pPr>
                      <a:r>
                        <a:rPr lang="es-BO" sz="1400"/>
                        <a:t>Kubelet</a:t>
                      </a:r>
                    </a:p>
                  </a:txBody>
                  <a:tcPr marL="59607" marR="59607" marT="29804" marB="29804" anchor="ctr"/>
                </a:tc>
                <a:tc>
                  <a:txBody>
                    <a:bodyPr/>
                    <a:lstStyle/>
                    <a:p>
                      <a:pPr>
                        <a:buNone/>
                      </a:pPr>
                      <a:r>
                        <a:rPr lang="es-BO" sz="1400"/>
                        <a:t>Agente del nodo</a:t>
                      </a:r>
                    </a:p>
                  </a:txBody>
                  <a:tcPr marL="59607" marR="59607" marT="29804" marB="29804" anchor="ctr"/>
                </a:tc>
                <a:tc>
                  <a:txBody>
                    <a:bodyPr/>
                    <a:lstStyle/>
                    <a:p>
                      <a:pPr>
                        <a:buNone/>
                      </a:pPr>
                      <a:r>
                        <a:rPr lang="es-ES" sz="1400"/>
                        <a:t>Se asegura de que los contenedores se ejecuten correctamente.</a:t>
                      </a:r>
                    </a:p>
                  </a:txBody>
                  <a:tcPr marL="59607" marR="59607" marT="29804" marB="29804" anchor="ctr"/>
                </a:tc>
                <a:extLst>
                  <a:ext uri="{0D108BD9-81ED-4DB2-BD59-A6C34878D82A}">
                    <a16:rowId xmlns:a16="http://schemas.microsoft.com/office/drawing/2014/main" val="205765159"/>
                  </a:ext>
                </a:extLst>
              </a:tr>
              <a:tr h="417252">
                <a:tc>
                  <a:txBody>
                    <a:bodyPr/>
                    <a:lstStyle/>
                    <a:p>
                      <a:pPr>
                        <a:buNone/>
                      </a:pPr>
                      <a:r>
                        <a:rPr lang="es-BO" sz="1400"/>
                        <a:t>Container Runtime</a:t>
                      </a:r>
                    </a:p>
                  </a:txBody>
                  <a:tcPr marL="59607" marR="59607" marT="29804" marB="29804" anchor="ctr"/>
                </a:tc>
                <a:tc>
                  <a:txBody>
                    <a:bodyPr/>
                    <a:lstStyle/>
                    <a:p>
                      <a:pPr>
                        <a:buNone/>
                      </a:pPr>
                      <a:r>
                        <a:rPr lang="es-BO" sz="1400"/>
                        <a:t>Motor de contenedores</a:t>
                      </a:r>
                    </a:p>
                  </a:txBody>
                  <a:tcPr marL="59607" marR="59607" marT="29804" marB="29804" anchor="ctr"/>
                </a:tc>
                <a:tc>
                  <a:txBody>
                    <a:bodyPr/>
                    <a:lstStyle/>
                    <a:p>
                      <a:pPr>
                        <a:buNone/>
                      </a:pPr>
                      <a:r>
                        <a:rPr lang="es-ES" sz="1400"/>
                        <a:t>Ejecuta los contenedores (Docker, containerd).</a:t>
                      </a:r>
                    </a:p>
                  </a:txBody>
                  <a:tcPr marL="59607" marR="59607" marT="29804" marB="29804" anchor="ctr"/>
                </a:tc>
                <a:extLst>
                  <a:ext uri="{0D108BD9-81ED-4DB2-BD59-A6C34878D82A}">
                    <a16:rowId xmlns:a16="http://schemas.microsoft.com/office/drawing/2014/main" val="2975391126"/>
                  </a:ext>
                </a:extLst>
              </a:tr>
              <a:tr h="417252">
                <a:tc>
                  <a:txBody>
                    <a:bodyPr/>
                    <a:lstStyle/>
                    <a:p>
                      <a:pPr>
                        <a:buNone/>
                      </a:pPr>
                      <a:r>
                        <a:rPr lang="es-BO" sz="1400"/>
                        <a:t>Pod</a:t>
                      </a:r>
                    </a:p>
                  </a:txBody>
                  <a:tcPr marL="59607" marR="59607" marT="29804" marB="29804" anchor="ctr"/>
                </a:tc>
                <a:tc>
                  <a:txBody>
                    <a:bodyPr/>
                    <a:lstStyle/>
                    <a:p>
                      <a:pPr>
                        <a:buNone/>
                      </a:pPr>
                      <a:r>
                        <a:rPr lang="es-BO" sz="1400"/>
                        <a:t>Unidad mínima</a:t>
                      </a:r>
                    </a:p>
                  </a:txBody>
                  <a:tcPr marL="59607" marR="59607" marT="29804" marB="29804" anchor="ctr"/>
                </a:tc>
                <a:tc>
                  <a:txBody>
                    <a:bodyPr/>
                    <a:lstStyle/>
                    <a:p>
                      <a:pPr>
                        <a:buNone/>
                      </a:pPr>
                      <a:r>
                        <a:rPr lang="es-ES" sz="1400" dirty="0"/>
                        <a:t>Grupo de uno o más contenedores que se ejecutan juntos.</a:t>
                      </a:r>
                    </a:p>
                  </a:txBody>
                  <a:tcPr marL="59607" marR="59607" marT="29804" marB="29804" anchor="ctr"/>
                </a:tc>
                <a:extLst>
                  <a:ext uri="{0D108BD9-81ED-4DB2-BD59-A6C34878D82A}">
                    <a16:rowId xmlns:a16="http://schemas.microsoft.com/office/drawing/2014/main" val="3909237031"/>
                  </a:ext>
                </a:extLst>
              </a:tr>
            </a:tbl>
          </a:graphicData>
        </a:graphic>
      </p:graphicFrame>
    </p:spTree>
    <p:extLst>
      <p:ext uri="{BB962C8B-B14F-4D97-AF65-F5344CB8AC3E}">
        <p14:creationId xmlns:p14="http://schemas.microsoft.com/office/powerpoint/2010/main" val="3530112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590FCBA-11DE-5DBF-60C9-A5E52F2F4BFF}"/>
              </a:ext>
            </a:extLst>
          </p:cNvPr>
          <p:cNvPicPr>
            <a:picLocks noChangeAspect="1"/>
          </p:cNvPicPr>
          <p:nvPr/>
        </p:nvPicPr>
        <p:blipFill>
          <a:blip r:embed="rId2"/>
          <a:srcRect l="21363" r="19364"/>
          <a:stretch>
            <a:fillRect/>
          </a:stretch>
        </p:blipFill>
        <p:spPr>
          <a:xfrm>
            <a:off x="236065" y="466993"/>
            <a:ext cx="5859935" cy="5924014"/>
          </a:xfrm>
          <a:prstGeom prst="rect">
            <a:avLst/>
          </a:prstGeom>
        </p:spPr>
      </p:pic>
      <p:graphicFrame>
        <p:nvGraphicFramePr>
          <p:cNvPr id="4" name="Tabla 3">
            <a:extLst>
              <a:ext uri="{FF2B5EF4-FFF2-40B4-BE49-F238E27FC236}">
                <a16:creationId xmlns:a16="http://schemas.microsoft.com/office/drawing/2014/main" id="{C000A2D2-40AE-346B-7347-026CED6E9B69}"/>
              </a:ext>
            </a:extLst>
          </p:cNvPr>
          <p:cNvGraphicFramePr>
            <a:graphicFrameLocks noGrp="1"/>
          </p:cNvGraphicFramePr>
          <p:nvPr>
            <p:extLst>
              <p:ext uri="{D42A27DB-BD31-4B8C-83A1-F6EECF244321}">
                <p14:modId xmlns:p14="http://schemas.microsoft.com/office/powerpoint/2010/main" val="2812764196"/>
              </p:ext>
            </p:extLst>
          </p:nvPr>
        </p:nvGraphicFramePr>
        <p:xfrm>
          <a:off x="6333419" y="635012"/>
          <a:ext cx="5622516" cy="5587976"/>
        </p:xfrm>
        <a:graphic>
          <a:graphicData uri="http://schemas.openxmlformats.org/drawingml/2006/table">
            <a:tbl>
              <a:tblPr>
                <a:tableStyleId>{C4B1156A-380E-4F78-BDF5-A606A8083BF9}</a:tableStyleId>
              </a:tblPr>
              <a:tblGrid>
                <a:gridCol w="1874172">
                  <a:extLst>
                    <a:ext uri="{9D8B030D-6E8A-4147-A177-3AD203B41FA5}">
                      <a16:colId xmlns:a16="http://schemas.microsoft.com/office/drawing/2014/main" val="1304112952"/>
                    </a:ext>
                  </a:extLst>
                </a:gridCol>
                <a:gridCol w="1874172">
                  <a:extLst>
                    <a:ext uri="{9D8B030D-6E8A-4147-A177-3AD203B41FA5}">
                      <a16:colId xmlns:a16="http://schemas.microsoft.com/office/drawing/2014/main" val="2226896743"/>
                    </a:ext>
                  </a:extLst>
                </a:gridCol>
                <a:gridCol w="1874172">
                  <a:extLst>
                    <a:ext uri="{9D8B030D-6E8A-4147-A177-3AD203B41FA5}">
                      <a16:colId xmlns:a16="http://schemas.microsoft.com/office/drawing/2014/main" val="504396658"/>
                    </a:ext>
                  </a:extLst>
                </a:gridCol>
              </a:tblGrid>
              <a:tr h="195566">
                <a:tc>
                  <a:txBody>
                    <a:bodyPr/>
                    <a:lstStyle/>
                    <a:p>
                      <a:pPr algn="just">
                        <a:buNone/>
                      </a:pPr>
                      <a:r>
                        <a:rPr lang="es-BO" sz="1100" b="1">
                          <a:effectLst/>
                        </a:rPr>
                        <a:t>Operación</a:t>
                      </a:r>
                      <a:endParaRPr lang="es-BO" sz="1100">
                        <a:effectLst/>
                        <a:latin typeface="Google Sans Text"/>
                      </a:endParaRPr>
                    </a:p>
                  </a:txBody>
                  <a:tcPr marL="48891" marR="48891" marT="24446" marB="24446" anchor="ctr"/>
                </a:tc>
                <a:tc>
                  <a:txBody>
                    <a:bodyPr/>
                    <a:lstStyle/>
                    <a:p>
                      <a:pPr algn="just">
                        <a:buNone/>
                      </a:pPr>
                      <a:r>
                        <a:rPr lang="es-BO" sz="1100" b="1">
                          <a:effectLst/>
                        </a:rPr>
                        <a:t>Sub-opción / Parámetro</a:t>
                      </a:r>
                      <a:endParaRPr lang="es-BO" sz="1100">
                        <a:effectLst/>
                        <a:latin typeface="Google Sans Text"/>
                      </a:endParaRPr>
                    </a:p>
                  </a:txBody>
                  <a:tcPr marL="48891" marR="48891" marT="24446" marB="24446" anchor="ctr"/>
                </a:tc>
                <a:tc>
                  <a:txBody>
                    <a:bodyPr/>
                    <a:lstStyle/>
                    <a:p>
                      <a:pPr algn="just">
                        <a:buNone/>
                      </a:pPr>
                      <a:r>
                        <a:rPr lang="es-BO" sz="1100" b="1">
                          <a:effectLst/>
                        </a:rPr>
                        <a:t>Descripción Funcional</a:t>
                      </a:r>
                      <a:endParaRPr lang="es-BO" sz="1100">
                        <a:effectLst/>
                        <a:latin typeface="Google Sans Text"/>
                      </a:endParaRPr>
                    </a:p>
                  </a:txBody>
                  <a:tcPr marL="48891" marR="48891" marT="24446" marB="24446" anchor="ctr"/>
                </a:tc>
                <a:extLst>
                  <a:ext uri="{0D108BD9-81ED-4DB2-BD59-A6C34878D82A}">
                    <a16:rowId xmlns:a16="http://schemas.microsoft.com/office/drawing/2014/main" val="3678171187"/>
                  </a:ext>
                </a:extLst>
              </a:tr>
              <a:tr h="488914">
                <a:tc rowSpan="4">
                  <a:txBody>
                    <a:bodyPr/>
                    <a:lstStyle/>
                    <a:p>
                      <a:pPr algn="just">
                        <a:buNone/>
                      </a:pPr>
                      <a:r>
                        <a:rPr lang="es-BO" sz="1100" b="1" dirty="0">
                          <a:effectLst/>
                        </a:rPr>
                        <a:t>Cluster </a:t>
                      </a:r>
                      <a:r>
                        <a:rPr lang="es-BO" sz="1100" b="1" dirty="0" err="1">
                          <a:effectLst/>
                        </a:rPr>
                        <a:t>Type</a:t>
                      </a:r>
                      <a:endParaRPr lang="es-BO" sz="1100" dirty="0">
                        <a:effectLst/>
                        <a:latin typeface="Google Sans Text"/>
                      </a:endParaRPr>
                    </a:p>
                  </a:txBody>
                  <a:tcPr marL="48891" marR="48891" marT="24446" marB="24446" anchor="ctr"/>
                </a:tc>
                <a:tc>
                  <a:txBody>
                    <a:bodyPr/>
                    <a:lstStyle/>
                    <a:p>
                      <a:pPr algn="just">
                        <a:buNone/>
                      </a:pPr>
                      <a:r>
                        <a:rPr lang="es-BO" sz="1100" b="1">
                          <a:effectLst/>
                        </a:rPr>
                        <a:t>kind</a:t>
                      </a:r>
                      <a:endParaRPr lang="es-BO" sz="1100">
                        <a:effectLst/>
                        <a:latin typeface="Google Sans Text"/>
                      </a:endParaRPr>
                    </a:p>
                  </a:txBody>
                  <a:tcPr marL="48891" marR="48891" marT="24446" marB="24446" anchor="ctr"/>
                </a:tc>
                <a:tc>
                  <a:txBody>
                    <a:bodyPr/>
                    <a:lstStyle/>
                    <a:p>
                      <a:pPr algn="just">
                        <a:buNone/>
                      </a:pPr>
                      <a:r>
                        <a:rPr lang="es-ES" sz="1100">
                          <a:effectLst/>
                        </a:rPr>
                        <a:t>Crea un clúster donde cada nodo es un contenedor de Docker. Ideal para desarrollo rápido y ligero.</a:t>
                      </a:r>
                      <a:endParaRPr lang="es-ES" sz="1100">
                        <a:effectLst/>
                        <a:latin typeface="Google Sans Text"/>
                      </a:endParaRPr>
                    </a:p>
                  </a:txBody>
                  <a:tcPr marL="48891" marR="48891" marT="24446" marB="24446" anchor="ctr"/>
                </a:tc>
                <a:extLst>
                  <a:ext uri="{0D108BD9-81ED-4DB2-BD59-A6C34878D82A}">
                    <a16:rowId xmlns:a16="http://schemas.microsoft.com/office/drawing/2014/main" val="2819633777"/>
                  </a:ext>
                </a:extLst>
              </a:tr>
              <a:tr h="635589">
                <a:tc vMerge="1">
                  <a:txBody>
                    <a:bodyPr/>
                    <a:lstStyle/>
                    <a:p>
                      <a:pPr>
                        <a:buNone/>
                      </a:pPr>
                      <a:endParaRPr lang="es-BO" sz="1100" dirty="0">
                        <a:effectLst/>
                        <a:latin typeface="Google Sans Text"/>
                      </a:endParaRPr>
                    </a:p>
                  </a:txBody>
                  <a:tcPr marL="48891" marR="48891" marT="24446" marB="24446" anchor="ctr"/>
                </a:tc>
                <a:tc>
                  <a:txBody>
                    <a:bodyPr/>
                    <a:lstStyle/>
                    <a:p>
                      <a:pPr algn="just">
                        <a:buNone/>
                      </a:pPr>
                      <a:r>
                        <a:rPr lang="es-BO" sz="1100" b="1" dirty="0">
                          <a:effectLst/>
                        </a:rPr>
                        <a:t>Node(s)</a:t>
                      </a:r>
                      <a:endParaRPr lang="es-BO" sz="1100" dirty="0">
                        <a:effectLst/>
                        <a:latin typeface="Google Sans Text"/>
                      </a:endParaRPr>
                    </a:p>
                  </a:txBody>
                  <a:tcPr marL="48891" marR="48891" marT="24446" marB="24446" anchor="ctr"/>
                </a:tc>
                <a:tc>
                  <a:txBody>
                    <a:bodyPr/>
                    <a:lstStyle/>
                    <a:p>
                      <a:pPr algn="just">
                        <a:buNone/>
                      </a:pPr>
                      <a:r>
                        <a:rPr lang="es-BO" sz="1100">
                          <a:effectLst/>
                        </a:rPr>
                        <a:t>Control deslizante para definir la cantidad de nodos (1 a 10). Más nodos permiten simular escenarios de alta disponibilidad.</a:t>
                      </a:r>
                      <a:endParaRPr lang="es-BO" sz="1100">
                        <a:effectLst/>
                        <a:latin typeface="Google Sans Text"/>
                      </a:endParaRPr>
                    </a:p>
                  </a:txBody>
                  <a:tcPr marL="48891" marR="48891" marT="24446" marB="24446" anchor="ctr"/>
                </a:tc>
                <a:extLst>
                  <a:ext uri="{0D108BD9-81ED-4DB2-BD59-A6C34878D82A}">
                    <a16:rowId xmlns:a16="http://schemas.microsoft.com/office/drawing/2014/main" val="1363204820"/>
                  </a:ext>
                </a:extLst>
              </a:tr>
              <a:tr h="635589">
                <a:tc vMerge="1">
                  <a:txBody>
                    <a:bodyPr/>
                    <a:lstStyle/>
                    <a:p>
                      <a:pPr>
                        <a:buNone/>
                      </a:pPr>
                      <a:endParaRPr lang="es-BO" sz="1100" dirty="0">
                        <a:effectLst/>
                        <a:latin typeface="Google Sans Text"/>
                      </a:endParaRPr>
                    </a:p>
                  </a:txBody>
                  <a:tcPr marL="48891" marR="48891" marT="24446" marB="24446" anchor="ctr"/>
                </a:tc>
                <a:tc>
                  <a:txBody>
                    <a:bodyPr/>
                    <a:lstStyle/>
                    <a:p>
                      <a:pPr algn="just">
                        <a:buNone/>
                      </a:pPr>
                      <a:r>
                        <a:rPr lang="es-BO" sz="1100" b="1">
                          <a:effectLst/>
                        </a:rPr>
                        <a:t>Version (kind)</a:t>
                      </a:r>
                      <a:endParaRPr lang="es-BO" sz="1100">
                        <a:effectLst/>
                        <a:latin typeface="Google Sans Text"/>
                      </a:endParaRPr>
                    </a:p>
                  </a:txBody>
                  <a:tcPr marL="48891" marR="48891" marT="24446" marB="24446" anchor="ctr"/>
                </a:tc>
                <a:tc>
                  <a:txBody>
                    <a:bodyPr/>
                    <a:lstStyle/>
                    <a:p>
                      <a:pPr algn="just">
                        <a:buNone/>
                      </a:pPr>
                      <a:r>
                        <a:rPr lang="es-ES" sz="1100">
                          <a:effectLst/>
                        </a:rPr>
                        <a:t>Permite seleccionar la versión específica de Kubernetes (ej. 1.34.3) para asegurar compatibilidad con el código.</a:t>
                      </a:r>
                      <a:endParaRPr lang="es-ES" sz="1100">
                        <a:effectLst/>
                        <a:latin typeface="Google Sans Text"/>
                      </a:endParaRPr>
                    </a:p>
                  </a:txBody>
                  <a:tcPr marL="48891" marR="48891" marT="24446" marB="24446" anchor="ctr"/>
                </a:tc>
                <a:extLst>
                  <a:ext uri="{0D108BD9-81ED-4DB2-BD59-A6C34878D82A}">
                    <a16:rowId xmlns:a16="http://schemas.microsoft.com/office/drawing/2014/main" val="3653587508"/>
                  </a:ext>
                </a:extLst>
              </a:tr>
              <a:tr h="635589">
                <a:tc vMerge="1">
                  <a:txBody>
                    <a:bodyPr/>
                    <a:lstStyle/>
                    <a:p>
                      <a:pPr>
                        <a:buNone/>
                      </a:pPr>
                      <a:endParaRPr lang="es-BO" sz="1100" dirty="0">
                        <a:effectLst/>
                        <a:latin typeface="Google Sans Text"/>
                      </a:endParaRPr>
                    </a:p>
                  </a:txBody>
                  <a:tcPr marL="48891" marR="48891" marT="24446" marB="24446" anchor="ctr"/>
                </a:tc>
                <a:tc>
                  <a:txBody>
                    <a:bodyPr/>
                    <a:lstStyle/>
                    <a:p>
                      <a:pPr algn="just">
                        <a:buNone/>
                      </a:pPr>
                      <a:r>
                        <a:rPr lang="es-BO" sz="1100" b="1">
                          <a:effectLst/>
                        </a:rPr>
                        <a:t>Kubeadm</a:t>
                      </a:r>
                      <a:endParaRPr lang="es-BO" sz="1100">
                        <a:effectLst/>
                        <a:latin typeface="Google Sans Text"/>
                      </a:endParaRPr>
                    </a:p>
                  </a:txBody>
                  <a:tcPr marL="48891" marR="48891" marT="24446" marB="24446" anchor="ctr"/>
                </a:tc>
                <a:tc>
                  <a:txBody>
                    <a:bodyPr/>
                    <a:lstStyle/>
                    <a:p>
                      <a:pPr algn="just">
                        <a:buNone/>
                      </a:pPr>
                      <a:r>
                        <a:rPr lang="es-ES" sz="1100">
                          <a:effectLst/>
                        </a:rPr>
                        <a:t>Utiliza la herramienta estándar de la industria para configurar un clúster de un solo nodo, más cercano a un entorno real.</a:t>
                      </a:r>
                      <a:endParaRPr lang="es-ES" sz="1100">
                        <a:effectLst/>
                        <a:latin typeface="Google Sans Text"/>
                      </a:endParaRPr>
                    </a:p>
                  </a:txBody>
                  <a:tcPr marL="48891" marR="48891" marT="24446" marB="24446" anchor="ctr"/>
                </a:tc>
                <a:extLst>
                  <a:ext uri="{0D108BD9-81ED-4DB2-BD59-A6C34878D82A}">
                    <a16:rowId xmlns:a16="http://schemas.microsoft.com/office/drawing/2014/main" val="2106692441"/>
                  </a:ext>
                </a:extLst>
              </a:tr>
              <a:tr h="635589">
                <a:tc>
                  <a:txBody>
                    <a:bodyPr/>
                    <a:lstStyle/>
                    <a:p>
                      <a:pPr algn="just">
                        <a:buNone/>
                      </a:pPr>
                      <a:r>
                        <a:rPr lang="es-BO" sz="1100" b="1" dirty="0" err="1">
                          <a:effectLst/>
                        </a:rPr>
                        <a:t>Advanced</a:t>
                      </a:r>
                      <a:r>
                        <a:rPr lang="es-BO" sz="1100" b="1" dirty="0">
                          <a:effectLst/>
                        </a:rPr>
                        <a:t> </a:t>
                      </a:r>
                      <a:r>
                        <a:rPr lang="es-BO" sz="1100" b="1" dirty="0" err="1">
                          <a:effectLst/>
                        </a:rPr>
                        <a:t>Settings</a:t>
                      </a:r>
                      <a:endParaRPr lang="es-BO" sz="1100" dirty="0">
                        <a:effectLst/>
                        <a:latin typeface="Google Sans Text"/>
                      </a:endParaRPr>
                    </a:p>
                  </a:txBody>
                  <a:tcPr marL="48891" marR="48891" marT="24446" marB="24446" anchor="ctr"/>
                </a:tc>
                <a:tc>
                  <a:txBody>
                    <a:bodyPr/>
                    <a:lstStyle/>
                    <a:p>
                      <a:pPr algn="just">
                        <a:buNone/>
                      </a:pPr>
                      <a:r>
                        <a:rPr lang="es-BO" sz="1100" b="1">
                          <a:effectLst/>
                        </a:rPr>
                        <a:t>Show system containers</a:t>
                      </a:r>
                      <a:endParaRPr lang="es-BO" sz="1100">
                        <a:effectLst/>
                        <a:latin typeface="Google Sans Text"/>
                      </a:endParaRPr>
                    </a:p>
                  </a:txBody>
                  <a:tcPr marL="48891" marR="48891" marT="24446" marB="24446" anchor="ctr"/>
                </a:tc>
                <a:tc>
                  <a:txBody>
                    <a:bodyPr/>
                    <a:lstStyle/>
                    <a:p>
                      <a:pPr algn="just">
                        <a:buNone/>
                      </a:pPr>
                      <a:r>
                        <a:rPr lang="es-ES" sz="1100">
                          <a:effectLst/>
                        </a:rPr>
                        <a:t>Al activarse, permite que los contenedores internos de Kubernetes sean visibles mediante comandos de Docker.</a:t>
                      </a:r>
                      <a:endParaRPr lang="es-ES" sz="1100">
                        <a:effectLst/>
                        <a:latin typeface="Google Sans Text"/>
                      </a:endParaRPr>
                    </a:p>
                  </a:txBody>
                  <a:tcPr marL="48891" marR="48891" marT="24446" marB="24446" anchor="ctr"/>
                </a:tc>
                <a:extLst>
                  <a:ext uri="{0D108BD9-81ED-4DB2-BD59-A6C34878D82A}">
                    <a16:rowId xmlns:a16="http://schemas.microsoft.com/office/drawing/2014/main" val="1148183545"/>
                  </a:ext>
                </a:extLst>
              </a:tr>
              <a:tr h="635589">
                <a:tc rowSpan="2">
                  <a:txBody>
                    <a:bodyPr/>
                    <a:lstStyle/>
                    <a:p>
                      <a:pPr algn="just">
                        <a:buNone/>
                      </a:pPr>
                      <a:r>
                        <a:rPr lang="es-BO" sz="1100" b="1" dirty="0">
                          <a:effectLst/>
                        </a:rPr>
                        <a:t>Acciones</a:t>
                      </a:r>
                      <a:endParaRPr lang="es-BO" sz="1100" dirty="0">
                        <a:effectLst/>
                        <a:latin typeface="Google Sans Text"/>
                      </a:endParaRPr>
                    </a:p>
                  </a:txBody>
                  <a:tcPr marL="48891" marR="48891" marT="24446" marB="24446" anchor="ctr"/>
                </a:tc>
                <a:tc>
                  <a:txBody>
                    <a:bodyPr/>
                    <a:lstStyle/>
                    <a:p>
                      <a:pPr algn="just">
                        <a:buNone/>
                      </a:pPr>
                      <a:r>
                        <a:rPr lang="es-BO" sz="1100" b="1">
                          <a:effectLst/>
                        </a:rPr>
                        <a:t>Create</a:t>
                      </a:r>
                      <a:endParaRPr lang="es-BO" sz="1100">
                        <a:effectLst/>
                        <a:latin typeface="Google Sans Text"/>
                      </a:endParaRPr>
                    </a:p>
                  </a:txBody>
                  <a:tcPr marL="48891" marR="48891" marT="24446" marB="24446" anchor="ctr"/>
                </a:tc>
                <a:tc>
                  <a:txBody>
                    <a:bodyPr/>
                    <a:lstStyle/>
                    <a:p>
                      <a:pPr algn="just">
                        <a:buNone/>
                      </a:pPr>
                      <a:r>
                        <a:rPr lang="es-ES" sz="1100">
                          <a:effectLst/>
                        </a:rPr>
                        <a:t>Inicia el despliegue del clúster. </a:t>
                      </a:r>
                      <a:r>
                        <a:rPr lang="es-ES" sz="1100" b="1">
                          <a:effectLst/>
                        </a:rPr>
                        <a:t>Advertencia:</a:t>
                      </a:r>
                      <a:r>
                        <a:rPr lang="es-ES" sz="1100">
                          <a:effectLst/>
                        </a:rPr>
                        <a:t> Cambiar la versión o los nodos después de creado borrará todos los datos previos.</a:t>
                      </a:r>
                      <a:endParaRPr lang="es-ES" sz="1100">
                        <a:effectLst/>
                        <a:latin typeface="Google Sans Text"/>
                      </a:endParaRPr>
                    </a:p>
                  </a:txBody>
                  <a:tcPr marL="48891" marR="48891" marT="24446" marB="24446" anchor="ctr"/>
                </a:tc>
                <a:extLst>
                  <a:ext uri="{0D108BD9-81ED-4DB2-BD59-A6C34878D82A}">
                    <a16:rowId xmlns:a16="http://schemas.microsoft.com/office/drawing/2014/main" val="1087885229"/>
                  </a:ext>
                </a:extLst>
              </a:tr>
              <a:tr h="488914">
                <a:tc vMerge="1">
                  <a:txBody>
                    <a:bodyPr/>
                    <a:lstStyle/>
                    <a:p>
                      <a:pPr>
                        <a:buNone/>
                      </a:pPr>
                      <a:endParaRPr lang="es-BO" sz="1100" dirty="0">
                        <a:effectLst/>
                        <a:latin typeface="Google Sans Text"/>
                      </a:endParaRPr>
                    </a:p>
                  </a:txBody>
                  <a:tcPr marL="48891" marR="48891" marT="24446" marB="24446" anchor="ctr"/>
                </a:tc>
                <a:tc>
                  <a:txBody>
                    <a:bodyPr/>
                    <a:lstStyle/>
                    <a:p>
                      <a:pPr algn="just">
                        <a:buNone/>
                      </a:pPr>
                      <a:r>
                        <a:rPr lang="es-BO" sz="1100" b="1">
                          <a:effectLst/>
                        </a:rPr>
                        <a:t>Cancel</a:t>
                      </a:r>
                      <a:endParaRPr lang="es-BO" sz="1100">
                        <a:effectLst/>
                        <a:latin typeface="Google Sans Text"/>
                      </a:endParaRPr>
                    </a:p>
                  </a:txBody>
                  <a:tcPr marL="48891" marR="48891" marT="24446" marB="24446" anchor="ctr"/>
                </a:tc>
                <a:tc>
                  <a:txBody>
                    <a:bodyPr/>
                    <a:lstStyle/>
                    <a:p>
                      <a:pPr algn="just">
                        <a:buNone/>
                      </a:pPr>
                      <a:r>
                        <a:rPr lang="es-ES" sz="1100" dirty="0">
                          <a:effectLst/>
                        </a:rPr>
                        <a:t>Aborta la configuración y cierra la ventana sin realizar cambios en el sistema.</a:t>
                      </a:r>
                      <a:endParaRPr lang="es-ES" sz="1100" dirty="0">
                        <a:effectLst/>
                        <a:latin typeface="Google Sans Text"/>
                      </a:endParaRPr>
                    </a:p>
                  </a:txBody>
                  <a:tcPr marL="48891" marR="48891" marT="24446" marB="24446" anchor="ctr"/>
                </a:tc>
                <a:extLst>
                  <a:ext uri="{0D108BD9-81ED-4DB2-BD59-A6C34878D82A}">
                    <a16:rowId xmlns:a16="http://schemas.microsoft.com/office/drawing/2014/main" val="2888418324"/>
                  </a:ext>
                </a:extLst>
              </a:tr>
            </a:tbl>
          </a:graphicData>
        </a:graphic>
      </p:graphicFrame>
    </p:spTree>
    <p:extLst>
      <p:ext uri="{BB962C8B-B14F-4D97-AF65-F5344CB8AC3E}">
        <p14:creationId xmlns:p14="http://schemas.microsoft.com/office/powerpoint/2010/main" val="249287402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TotalTime>
  <Words>1976</Words>
  <Application>Microsoft Office PowerPoint</Application>
  <PresentationFormat>Panorámica</PresentationFormat>
  <Paragraphs>139</Paragraphs>
  <Slides>35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35</vt:i4>
      </vt:variant>
    </vt:vector>
  </HeadingPairs>
  <TitlesOfParts>
    <vt:vector size="43" baseType="lpstr">
      <vt:lpstr>ADLaM Display</vt:lpstr>
      <vt:lpstr>Aharoni</vt:lpstr>
      <vt:lpstr>Arial</vt:lpstr>
      <vt:lpstr>Calibri</vt:lpstr>
      <vt:lpstr>Calibri Light</vt:lpstr>
      <vt:lpstr>Courier New</vt:lpstr>
      <vt:lpstr>Google Sans Text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Leiva calle</dc:creator>
  <cp:lastModifiedBy>Joel Leiva calle</cp:lastModifiedBy>
  <cp:revision>5</cp:revision>
  <dcterms:created xsi:type="dcterms:W3CDTF">2026-04-28T17:45:04Z</dcterms:created>
  <dcterms:modified xsi:type="dcterms:W3CDTF">2026-04-29T20:10:18Z</dcterms:modified>
</cp:coreProperties>
</file>